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402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4402A"/>
          </a:solidFill>
          <a:ln/>
        </p:spPr>
      </p:sp>
      <p:sp>
        <p:nvSpPr>
          <p:cNvPr id="3" name="Text 1"/>
          <p:cNvSpPr txBox="1"/>
          <p:nvPr/>
        </p:nvSpPr>
        <p:spPr>
          <a:xfrm>
            <a:off x="822960" y="822960"/>
            <a:ext cx="9144000" cy="365760"/>
          </a:xfrm>
          <a:prstGeom prst="rect">
            <a:avLst/>
          </a:prstGeom>
          <a:noFill/>
          <a:ln/>
        </p:spPr>
        <p:txBody>
          <a:bodyPr wrap="square" rtlCol="0" anchor="ctr"/>
          <a:lstStyle/>
          <a:p>
            <a:pPr indent="0" marL="0">
              <a:buNone/>
            </a:pPr>
            <a:r>
              <a:rPr lang="en-US" sz="1200" spc="100" kern="0" dirty="0">
                <a:solidFill>
                  <a:srgbClr val="A9C2AE"/>
                </a:solidFill>
                <a:latin typeface="Calibri" pitchFamily="34" charset="0"/>
                <a:ea typeface="Calibri" pitchFamily="34" charset="-122"/>
                <a:cs typeface="Calibri" pitchFamily="34" charset="-120"/>
              </a:rPr>
              <a:t>1M1B AI FOR SUSTAINABILITY  ·  IBM SKILLSBUILD &amp; AICTE</a:t>
            </a:r>
            <a:endParaRPr lang="en-US" sz="1200" dirty="0"/>
          </a:p>
        </p:txBody>
      </p:sp>
      <p:sp>
        <p:nvSpPr>
          <p:cNvPr id="4" name="Text 2"/>
          <p:cNvSpPr txBox="1"/>
          <p:nvPr/>
        </p:nvSpPr>
        <p:spPr>
          <a:xfrm>
            <a:off x="777240" y="2286000"/>
            <a:ext cx="9144000" cy="1371600"/>
          </a:xfrm>
          <a:prstGeom prst="rect">
            <a:avLst/>
          </a:prstGeom>
          <a:noFill/>
          <a:ln/>
        </p:spPr>
        <p:txBody>
          <a:bodyPr wrap="square" rtlCol="0" anchor="ctr"/>
          <a:lstStyle/>
          <a:p>
            <a:pPr indent="0" marL="0">
              <a:buNone/>
            </a:pPr>
            <a:r>
              <a:rPr lang="en-US" sz="6000" dirty="0">
                <a:solidFill>
                  <a:srgbClr val="FFFFFF"/>
                </a:solidFill>
                <a:latin typeface="Georgia" pitchFamily="34" charset="0"/>
                <a:ea typeface="Georgia" pitchFamily="34" charset="-122"/>
                <a:cs typeface="Georgia" pitchFamily="34" charset="-120"/>
              </a:rPr>
              <a:t>GreenGuide</a:t>
            </a:r>
            <a:endParaRPr lang="en-US" sz="6000" dirty="0"/>
          </a:p>
        </p:txBody>
      </p:sp>
      <p:sp>
        <p:nvSpPr>
          <p:cNvPr id="5" name="Text 3"/>
          <p:cNvSpPr txBox="1"/>
          <p:nvPr/>
        </p:nvSpPr>
        <p:spPr>
          <a:xfrm>
            <a:off x="822960" y="3611880"/>
            <a:ext cx="8229600" cy="822960"/>
          </a:xfrm>
          <a:prstGeom prst="rect">
            <a:avLst/>
          </a:prstGeom>
          <a:noFill/>
          <a:ln/>
        </p:spPr>
        <p:txBody>
          <a:bodyPr wrap="square" rtlCol="0" anchor="ctr"/>
          <a:lstStyle/>
          <a:p>
            <a:pPr indent="0" marL="0">
              <a:lnSpc>
                <a:spcPct val="130000"/>
              </a:lnSpc>
              <a:buNone/>
            </a:pPr>
            <a:r>
              <a:rPr lang="en-US" sz="1800" dirty="0">
                <a:solidFill>
                  <a:srgbClr val="D7E3D3"/>
                </a:solidFill>
                <a:latin typeface="Calibri" pitchFamily="34" charset="0"/>
                <a:ea typeface="Calibri" pitchFamily="34" charset="-122"/>
                <a:cs typeface="Calibri" pitchFamily="34" charset="-120"/>
              </a:rPr>
              <a:t>A retrieval-grounded AI assistant for local waste, air quality,</a:t>
            </a:r>
            <a:endParaRPr lang="en-US" sz="1800" dirty="0"/>
          </a:p>
          <a:p>
            <a:pPr indent="0" marL="0">
              <a:lnSpc>
                <a:spcPct val="130000"/>
              </a:lnSpc>
              <a:buNone/>
            </a:pPr>
            <a:r>
              <a:rPr lang="en-US" sz="1800" dirty="0">
                <a:solidFill>
                  <a:srgbClr val="D7E3D3"/>
                </a:solidFill>
                <a:latin typeface="Calibri" pitchFamily="34" charset="0"/>
                <a:ea typeface="Calibri" pitchFamily="34" charset="-122"/>
                <a:cs typeface="Calibri" pitchFamily="34" charset="-120"/>
              </a:rPr>
              <a:t>and climate-action guidance</a:t>
            </a:r>
            <a:endParaRPr lang="en-US" sz="1800" dirty="0"/>
          </a:p>
        </p:txBody>
      </p:sp>
      <p:sp>
        <p:nvSpPr>
          <p:cNvPr id="6" name="Text 4"/>
          <p:cNvSpPr txBox="1"/>
          <p:nvPr/>
        </p:nvSpPr>
        <p:spPr>
          <a:xfrm>
            <a:off x="822960" y="5943600"/>
            <a:ext cx="7406640" cy="365760"/>
          </a:xfrm>
          <a:prstGeom prst="rect">
            <a:avLst/>
          </a:prstGeom>
          <a:noFill/>
          <a:ln/>
        </p:spPr>
        <p:txBody>
          <a:bodyPr wrap="square" rtlCol="0" anchor="ctr"/>
          <a:lstStyle/>
          <a:p>
            <a:pPr indent="0" marL="0">
              <a:buNone/>
            </a:pPr>
            <a:r>
              <a:rPr lang="en-US" sz="1250" dirty="0">
                <a:solidFill>
                  <a:srgbClr val="A9C2AE"/>
                </a:solidFill>
                <a:latin typeface="Calibri" pitchFamily="34" charset="0"/>
                <a:ea typeface="Calibri" pitchFamily="34" charset="-122"/>
                <a:cs typeface="Calibri" pitchFamily="34" charset="-120"/>
              </a:rPr>
              <a:t>Aryan  ·  Panipat Institute of Engineering &amp; Technology</a:t>
            </a:r>
            <a:endParaRPr lang="en-US" sz="1250" dirty="0"/>
          </a:p>
        </p:txBody>
      </p:sp>
      <p:sp>
        <p:nvSpPr>
          <p:cNvPr id="7" name="Text 5"/>
          <p:cNvSpPr txBox="1"/>
          <p:nvPr/>
        </p:nvSpPr>
        <p:spPr>
          <a:xfrm>
            <a:off x="8412480" y="5943600"/>
            <a:ext cx="2926080" cy="365760"/>
          </a:xfrm>
          <a:prstGeom prst="rect">
            <a:avLst/>
          </a:prstGeom>
          <a:noFill/>
          <a:ln/>
        </p:spPr>
        <p:txBody>
          <a:bodyPr wrap="square" rtlCol="0" anchor="ctr"/>
          <a:lstStyle/>
          <a:p>
            <a:pPr algn="r" indent="0" marL="0">
              <a:buNone/>
            </a:pPr>
            <a:r>
              <a:rPr lang="en-US" sz="1300" dirty="0">
                <a:solidFill>
                  <a:srgbClr val="A9C2AE"/>
                </a:solidFill>
                <a:latin typeface="Calibri" pitchFamily="34" charset="0"/>
                <a:ea typeface="Calibri" pitchFamily="34" charset="-122"/>
                <a:cs typeface="Calibri" pitchFamily="34" charset="-120"/>
              </a:rPr>
              <a:t>SDG 13 · SDG 12 · SDG 11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74320"/>
          </a:xfrm>
          <a:prstGeom prst="rect">
            <a:avLst/>
          </a:prstGeom>
          <a:noFill/>
          <a:ln/>
        </p:spPr>
        <p:txBody>
          <a:bodyPr wrap="square" rtlCol="0" anchor="ctr"/>
          <a:lstStyle/>
          <a:p>
            <a:pPr indent="0" marL="0">
              <a:buNone/>
            </a:pPr>
            <a:r>
              <a:rPr lang="en-US" sz="1100" b="1" spc="100" kern="0" dirty="0">
                <a:solidFill>
                  <a:srgbClr val="4C5A45"/>
                </a:solidFill>
                <a:latin typeface="Calibri" pitchFamily="34" charset="0"/>
                <a:ea typeface="Calibri" pitchFamily="34" charset="-122"/>
                <a:cs typeface="Calibri" pitchFamily="34" charset="-120"/>
              </a:rPr>
              <a:t>PROBLEM STATEMENT</a:t>
            </a:r>
            <a:endParaRPr lang="en-US" sz="1100" dirty="0"/>
          </a:p>
        </p:txBody>
      </p:sp>
      <p:sp>
        <p:nvSpPr>
          <p:cNvPr id="3" name="Text 1"/>
          <p:cNvSpPr txBox="1"/>
          <p:nvPr/>
        </p:nvSpPr>
        <p:spPr>
          <a:xfrm>
            <a:off x="548640" y="777240"/>
            <a:ext cx="10515600" cy="1188720"/>
          </a:xfrm>
          <a:prstGeom prst="rect">
            <a:avLst/>
          </a:prstGeom>
          <a:noFill/>
          <a:ln/>
        </p:spPr>
        <p:txBody>
          <a:bodyPr wrap="square" rtlCol="0" anchor="ctr"/>
          <a:lstStyle/>
          <a:p>
            <a:pPr indent="0" marL="0">
              <a:buNone/>
            </a:pPr>
            <a:r>
              <a:rPr lang="en-US" sz="3200" dirty="0">
                <a:solidFill>
                  <a:srgbClr val="24402A"/>
                </a:solidFill>
                <a:latin typeface="Georgia" pitchFamily="34" charset="0"/>
                <a:ea typeface="Georgia" pitchFamily="34" charset="-122"/>
                <a:cs typeface="Georgia" pitchFamily="34" charset="-120"/>
              </a:rPr>
              <a:t>Sustainability information exists —</a:t>
            </a:r>
            <a:endParaRPr lang="en-US" sz="3200" dirty="0"/>
          </a:p>
          <a:p>
            <a:pPr indent="0" marL="0">
              <a:buNone/>
            </a:pPr>
            <a:r>
              <a:rPr lang="en-US" sz="3200" dirty="0">
                <a:solidFill>
                  <a:srgbClr val="24402A"/>
                </a:solidFill>
                <a:latin typeface="Georgia" pitchFamily="34" charset="0"/>
                <a:ea typeface="Georgia" pitchFamily="34" charset="-122"/>
                <a:cs typeface="Georgia" pitchFamily="34" charset="-120"/>
              </a:rPr>
              <a:t>but it isn't reaching people</a:t>
            </a:r>
            <a:endParaRPr lang="en-US" sz="3200" dirty="0"/>
          </a:p>
        </p:txBody>
      </p:sp>
      <p:sp>
        <p:nvSpPr>
          <p:cNvPr id="4" name="Text 2"/>
          <p:cNvSpPr txBox="1"/>
          <p:nvPr/>
        </p:nvSpPr>
        <p:spPr>
          <a:xfrm>
            <a:off x="548640" y="1965960"/>
            <a:ext cx="7863840" cy="1188720"/>
          </a:xfrm>
          <a:prstGeom prst="rect">
            <a:avLst/>
          </a:prstGeom>
          <a:noFill/>
          <a:ln/>
        </p:spPr>
        <p:txBody>
          <a:bodyPr wrap="square" rtlCol="0" anchor="ctr"/>
          <a:lstStyle/>
          <a:p>
            <a:pPr indent="0" marL="0">
              <a:lnSpc>
                <a:spcPct val="130000"/>
              </a:lnSpc>
              <a:buNone/>
            </a:pPr>
            <a:r>
              <a:rPr lang="en-US" sz="1600" i="1" dirty="0">
                <a:solidFill>
                  <a:srgbClr val="1E2A1B"/>
                </a:solidFill>
                <a:latin typeface="Calibri" pitchFamily="34" charset="0"/>
                <a:ea typeface="Calibri" pitchFamily="34" charset="-122"/>
                <a:cs typeface="Calibri" pitchFamily="34" charset="-120"/>
              </a:rPr>
              <a:t>How might we use AI to make local climate, waste, and sustainability information accessible and actionable, so that residents and students can make informed daily decisions and reduce their environmental impact?</a:t>
            </a:r>
            <a:endParaRPr lang="en-US" sz="1600" dirty="0"/>
          </a:p>
        </p:txBody>
      </p:sp>
      <p:sp>
        <p:nvSpPr>
          <p:cNvPr id="5" name="Shape 3"/>
          <p:cNvSpPr/>
          <p:nvPr/>
        </p:nvSpPr>
        <p:spPr>
          <a:xfrm>
            <a:off x="548640" y="3520440"/>
            <a:ext cx="3337560" cy="2103120"/>
          </a:xfrm>
          <a:prstGeom prst="rect">
            <a:avLst/>
          </a:prstGeom>
          <a:solidFill>
            <a:srgbClr val="F1F2E8"/>
          </a:solidFill>
          <a:ln w="12700">
            <a:solidFill>
              <a:srgbClr val="D8DBC9"/>
            </a:solidFill>
            <a:prstDash val="solid"/>
          </a:ln>
        </p:spPr>
      </p:sp>
      <p:sp>
        <p:nvSpPr>
          <p:cNvPr id="6" name="Text 4"/>
          <p:cNvSpPr txBox="1"/>
          <p:nvPr/>
        </p:nvSpPr>
        <p:spPr>
          <a:xfrm>
            <a:off x="777240" y="3721608"/>
            <a:ext cx="2880360" cy="365760"/>
          </a:xfrm>
          <a:prstGeom prst="rect">
            <a:avLst/>
          </a:prstGeom>
          <a:noFill/>
          <a:ln/>
        </p:spPr>
        <p:txBody>
          <a:bodyPr wrap="square" rtlCol="0" anchor="ctr"/>
          <a:lstStyle/>
          <a:p>
            <a:pPr indent="0" marL="0">
              <a:buNone/>
            </a:pPr>
            <a:r>
              <a:rPr lang="en-US" sz="1800" b="1" dirty="0">
                <a:solidFill>
                  <a:srgbClr val="24402A"/>
                </a:solidFill>
                <a:latin typeface="Georgia" pitchFamily="34" charset="0"/>
                <a:ea typeface="Georgia" pitchFamily="34" charset="-122"/>
                <a:cs typeface="Georgia" pitchFamily="34" charset="-120"/>
              </a:rPr>
              <a:t>Scattered</a:t>
            </a:r>
            <a:endParaRPr lang="en-US" sz="1800" dirty="0"/>
          </a:p>
        </p:txBody>
      </p:sp>
      <p:sp>
        <p:nvSpPr>
          <p:cNvPr id="7" name="Text 5"/>
          <p:cNvSpPr txBox="1"/>
          <p:nvPr/>
        </p:nvSpPr>
        <p:spPr>
          <a:xfrm>
            <a:off x="777240" y="4206240"/>
            <a:ext cx="2880360" cy="1280160"/>
          </a:xfrm>
          <a:prstGeom prst="rect">
            <a:avLst/>
          </a:prstGeom>
          <a:noFill/>
          <a:ln/>
        </p:spPr>
        <p:txBody>
          <a:bodyPr wrap="square" rtlCol="0" anchor="ctr"/>
          <a:lstStyle/>
          <a:p>
            <a:pPr indent="0" marL="0">
              <a:lnSpc>
                <a:spcPct val="130000"/>
              </a:lnSpc>
              <a:buNone/>
            </a:pPr>
            <a:r>
              <a:rPr lang="en-US" sz="1250" dirty="0">
                <a:solidFill>
                  <a:srgbClr val="4C5A45"/>
                </a:solidFill>
                <a:latin typeface="Calibri" pitchFamily="34" charset="0"/>
                <a:ea typeface="Calibri" pitchFamily="34" charset="-122"/>
                <a:cs typeface="Calibri" pitchFamily="34" charset="-120"/>
              </a:rPr>
              <a:t>Waste rules, AQI advisories, and climate guidance live across separate municipal PDFs, CPCB circulars, and government websites.</a:t>
            </a:r>
            <a:endParaRPr lang="en-US" sz="1250" dirty="0"/>
          </a:p>
        </p:txBody>
      </p:sp>
      <p:sp>
        <p:nvSpPr>
          <p:cNvPr id="8" name="Shape 6"/>
          <p:cNvSpPr/>
          <p:nvPr/>
        </p:nvSpPr>
        <p:spPr>
          <a:xfrm>
            <a:off x="4206240" y="3520440"/>
            <a:ext cx="3337560" cy="2103120"/>
          </a:xfrm>
          <a:prstGeom prst="rect">
            <a:avLst/>
          </a:prstGeom>
          <a:solidFill>
            <a:srgbClr val="F1F2E8"/>
          </a:solidFill>
          <a:ln w="12700">
            <a:solidFill>
              <a:srgbClr val="D8DBC9"/>
            </a:solidFill>
            <a:prstDash val="solid"/>
          </a:ln>
        </p:spPr>
      </p:sp>
      <p:sp>
        <p:nvSpPr>
          <p:cNvPr id="9" name="Text 7"/>
          <p:cNvSpPr txBox="1"/>
          <p:nvPr/>
        </p:nvSpPr>
        <p:spPr>
          <a:xfrm>
            <a:off x="4434840" y="3721608"/>
            <a:ext cx="2880360" cy="365760"/>
          </a:xfrm>
          <a:prstGeom prst="rect">
            <a:avLst/>
          </a:prstGeom>
          <a:noFill/>
          <a:ln/>
        </p:spPr>
        <p:txBody>
          <a:bodyPr wrap="square" rtlCol="0" anchor="ctr"/>
          <a:lstStyle/>
          <a:p>
            <a:pPr indent="0" marL="0">
              <a:buNone/>
            </a:pPr>
            <a:r>
              <a:rPr lang="en-US" sz="1800" b="1" dirty="0">
                <a:solidFill>
                  <a:srgbClr val="24402A"/>
                </a:solidFill>
                <a:latin typeface="Georgia" pitchFamily="34" charset="0"/>
                <a:ea typeface="Georgia" pitchFamily="34" charset="-122"/>
                <a:cs typeface="Georgia" pitchFamily="34" charset="-120"/>
              </a:rPr>
              <a:t>Dense</a:t>
            </a:r>
            <a:endParaRPr lang="en-US" sz="1800" dirty="0"/>
          </a:p>
        </p:txBody>
      </p:sp>
      <p:sp>
        <p:nvSpPr>
          <p:cNvPr id="10" name="Text 8"/>
          <p:cNvSpPr txBox="1"/>
          <p:nvPr/>
        </p:nvSpPr>
        <p:spPr>
          <a:xfrm>
            <a:off x="4434840" y="4206240"/>
            <a:ext cx="2880360" cy="1280160"/>
          </a:xfrm>
          <a:prstGeom prst="rect">
            <a:avLst/>
          </a:prstGeom>
          <a:noFill/>
          <a:ln/>
        </p:spPr>
        <p:txBody>
          <a:bodyPr wrap="square" rtlCol="0" anchor="ctr"/>
          <a:lstStyle/>
          <a:p>
            <a:pPr indent="0" marL="0">
              <a:lnSpc>
                <a:spcPct val="130000"/>
              </a:lnSpc>
              <a:buNone/>
            </a:pPr>
            <a:r>
              <a:rPr lang="en-US" sz="1250" dirty="0">
                <a:solidFill>
                  <a:srgbClr val="4C5A45"/>
                </a:solidFill>
                <a:latin typeface="Calibri" pitchFamily="34" charset="0"/>
                <a:ea typeface="Calibri" pitchFamily="34" charset="-122"/>
                <a:cs typeface="Calibri" pitchFamily="34" charset="-120"/>
              </a:rPr>
              <a:t>Official documents use technical, legal language that isn't written for a resident trying to make a quick decision.</a:t>
            </a:r>
            <a:endParaRPr lang="en-US" sz="1250" dirty="0"/>
          </a:p>
        </p:txBody>
      </p:sp>
      <p:sp>
        <p:nvSpPr>
          <p:cNvPr id="11" name="Shape 9"/>
          <p:cNvSpPr/>
          <p:nvPr/>
        </p:nvSpPr>
        <p:spPr>
          <a:xfrm>
            <a:off x="7863840" y="3520440"/>
            <a:ext cx="3337560" cy="2103120"/>
          </a:xfrm>
          <a:prstGeom prst="rect">
            <a:avLst/>
          </a:prstGeom>
          <a:solidFill>
            <a:srgbClr val="F1F2E8"/>
          </a:solidFill>
          <a:ln w="12700">
            <a:solidFill>
              <a:srgbClr val="D8DBC9"/>
            </a:solidFill>
            <a:prstDash val="solid"/>
          </a:ln>
        </p:spPr>
      </p:sp>
      <p:sp>
        <p:nvSpPr>
          <p:cNvPr id="12" name="Text 10"/>
          <p:cNvSpPr txBox="1"/>
          <p:nvPr/>
        </p:nvSpPr>
        <p:spPr>
          <a:xfrm>
            <a:off x="8092440" y="3721608"/>
            <a:ext cx="2880360" cy="365760"/>
          </a:xfrm>
          <a:prstGeom prst="rect">
            <a:avLst/>
          </a:prstGeom>
          <a:noFill/>
          <a:ln/>
        </p:spPr>
        <p:txBody>
          <a:bodyPr wrap="square" rtlCol="0" anchor="ctr"/>
          <a:lstStyle/>
          <a:p>
            <a:pPr indent="0" marL="0">
              <a:buNone/>
            </a:pPr>
            <a:r>
              <a:rPr lang="en-US" sz="1800" b="1" dirty="0">
                <a:solidFill>
                  <a:srgbClr val="24402A"/>
                </a:solidFill>
                <a:latin typeface="Georgia" pitchFamily="34" charset="0"/>
                <a:ea typeface="Georgia" pitchFamily="34" charset="-122"/>
                <a:cs typeface="Georgia" pitchFamily="34" charset="-120"/>
              </a:rPr>
              <a:t>Static</a:t>
            </a:r>
            <a:endParaRPr lang="en-US" sz="1800" dirty="0"/>
          </a:p>
        </p:txBody>
      </p:sp>
      <p:sp>
        <p:nvSpPr>
          <p:cNvPr id="13" name="Text 11"/>
          <p:cNvSpPr txBox="1"/>
          <p:nvPr/>
        </p:nvSpPr>
        <p:spPr>
          <a:xfrm>
            <a:off x="8092440" y="4206240"/>
            <a:ext cx="2880360" cy="1280160"/>
          </a:xfrm>
          <a:prstGeom prst="rect">
            <a:avLst/>
          </a:prstGeom>
          <a:noFill/>
          <a:ln/>
        </p:spPr>
        <p:txBody>
          <a:bodyPr wrap="square" rtlCol="0" anchor="ctr"/>
          <a:lstStyle/>
          <a:p>
            <a:pPr indent="0" marL="0">
              <a:lnSpc>
                <a:spcPct val="130000"/>
              </a:lnSpc>
              <a:buNone/>
            </a:pPr>
            <a:r>
              <a:rPr lang="en-US" sz="1250" dirty="0">
                <a:solidFill>
                  <a:srgbClr val="4C5A45"/>
                </a:solidFill>
                <a:latin typeface="Calibri" pitchFamily="34" charset="0"/>
                <a:ea typeface="Calibri" pitchFamily="34" charset="-122"/>
                <a:cs typeface="Calibri" pitchFamily="34" charset="-120"/>
              </a:rPr>
              <a:t>A basic FAQ page can't answer a specific, free-form question like "can I recycle a greasy pizza box?"</a:t>
            </a:r>
            <a:endParaRPr lang="en-US" sz="1250" dirty="0"/>
          </a:p>
        </p:txBody>
      </p:sp>
      <p:sp>
        <p:nvSpPr>
          <p:cNvPr id="14" name="Text 12"/>
          <p:cNvSpPr txBox="1"/>
          <p:nvPr/>
        </p:nvSpPr>
        <p:spPr>
          <a:xfrm>
            <a:off x="11521440" y="6446520"/>
            <a:ext cx="548640" cy="274320"/>
          </a:xfrm>
          <a:prstGeom prst="rect">
            <a:avLst/>
          </a:prstGeom>
          <a:noFill/>
          <a:ln/>
        </p:spPr>
        <p:txBody>
          <a:bodyPr wrap="square" rtlCol="0" anchor="ctr"/>
          <a:lstStyle/>
          <a:p>
            <a:pPr algn="r" indent="0" marL="0">
              <a:buNone/>
            </a:pPr>
            <a:r>
              <a:rPr lang="en-US" sz="1000" dirty="0">
                <a:solidFill>
                  <a:srgbClr val="4C5A45"/>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74320"/>
          </a:xfrm>
          <a:prstGeom prst="rect">
            <a:avLst/>
          </a:prstGeom>
          <a:noFill/>
          <a:ln/>
        </p:spPr>
        <p:txBody>
          <a:bodyPr wrap="square" rtlCol="0" anchor="ctr"/>
          <a:lstStyle/>
          <a:p>
            <a:pPr indent="0" marL="0">
              <a:buNone/>
            </a:pPr>
            <a:r>
              <a:rPr lang="en-US" sz="1100" b="1" spc="100" kern="0" dirty="0">
                <a:solidFill>
                  <a:srgbClr val="4C5A45"/>
                </a:solidFill>
                <a:latin typeface="Calibri" pitchFamily="34" charset="0"/>
                <a:ea typeface="Calibri" pitchFamily="34" charset="-122"/>
                <a:cs typeface="Calibri" pitchFamily="34" charset="-120"/>
              </a:rPr>
              <a:t>SDG ALIGNMENT</a:t>
            </a:r>
            <a:endParaRPr lang="en-US" sz="1100" dirty="0"/>
          </a:p>
        </p:txBody>
      </p:sp>
      <p:sp>
        <p:nvSpPr>
          <p:cNvPr id="3" name="Text 1"/>
          <p:cNvSpPr txBox="1"/>
          <p:nvPr/>
        </p:nvSpPr>
        <p:spPr>
          <a:xfrm>
            <a:off x="548640" y="777240"/>
            <a:ext cx="9144000" cy="1188720"/>
          </a:xfrm>
          <a:prstGeom prst="rect">
            <a:avLst/>
          </a:prstGeom>
          <a:noFill/>
          <a:ln/>
        </p:spPr>
        <p:txBody>
          <a:bodyPr wrap="square" rtlCol="0" anchor="ctr"/>
          <a:lstStyle/>
          <a:p>
            <a:pPr indent="0" marL="0">
              <a:buNone/>
            </a:pPr>
            <a:r>
              <a:rPr lang="en-US" sz="3200" dirty="0">
                <a:solidFill>
                  <a:srgbClr val="24402A"/>
                </a:solidFill>
                <a:latin typeface="Georgia" pitchFamily="34" charset="0"/>
                <a:ea typeface="Georgia" pitchFamily="34" charset="-122"/>
                <a:cs typeface="Georgia" pitchFamily="34" charset="-120"/>
              </a:rPr>
              <a:t>Anchored to three Sustainable</a:t>
            </a:r>
            <a:endParaRPr lang="en-US" sz="3200" dirty="0"/>
          </a:p>
          <a:p>
            <a:pPr indent="0" marL="0">
              <a:buNone/>
            </a:pPr>
            <a:r>
              <a:rPr lang="en-US" sz="3200" dirty="0">
                <a:solidFill>
                  <a:srgbClr val="24402A"/>
                </a:solidFill>
                <a:latin typeface="Georgia" pitchFamily="34" charset="0"/>
                <a:ea typeface="Georgia" pitchFamily="34" charset="-122"/>
                <a:cs typeface="Georgia" pitchFamily="34" charset="-120"/>
              </a:rPr>
              <a:t>Development Goals</a:t>
            </a:r>
            <a:endParaRPr lang="en-US" sz="3200" dirty="0"/>
          </a:p>
        </p:txBody>
      </p:sp>
      <p:sp>
        <p:nvSpPr>
          <p:cNvPr id="4" name="Shape 2"/>
          <p:cNvSpPr/>
          <p:nvPr/>
        </p:nvSpPr>
        <p:spPr>
          <a:xfrm>
            <a:off x="548640" y="2286000"/>
            <a:ext cx="3337560" cy="3291840"/>
          </a:xfrm>
          <a:prstGeom prst="rect">
            <a:avLst/>
          </a:prstGeom>
          <a:solidFill>
            <a:srgbClr val="FAFAF4"/>
          </a:solidFill>
          <a:ln w="12700">
            <a:solidFill>
              <a:srgbClr val="D8DBC9"/>
            </a:solidFill>
            <a:prstDash val="solid"/>
          </a:ln>
        </p:spPr>
      </p:sp>
      <p:sp>
        <p:nvSpPr>
          <p:cNvPr id="5" name="Shape 3"/>
          <p:cNvSpPr/>
          <p:nvPr/>
        </p:nvSpPr>
        <p:spPr>
          <a:xfrm>
            <a:off x="777240" y="2560320"/>
            <a:ext cx="822960" cy="822960"/>
          </a:xfrm>
          <a:prstGeom prst="rect">
            <a:avLst/>
          </a:prstGeom>
          <a:solidFill>
            <a:srgbClr val="35563C"/>
          </a:solidFill>
          <a:ln/>
        </p:spPr>
      </p:sp>
      <p:sp>
        <p:nvSpPr>
          <p:cNvPr id="6" name="Text 4"/>
          <p:cNvSpPr txBox="1"/>
          <p:nvPr/>
        </p:nvSpPr>
        <p:spPr>
          <a:xfrm>
            <a:off x="777240" y="2560320"/>
            <a:ext cx="822960" cy="82296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SDG 13</a:t>
            </a:r>
            <a:endParaRPr lang="en-US" sz="1600" dirty="0"/>
          </a:p>
        </p:txBody>
      </p:sp>
      <p:sp>
        <p:nvSpPr>
          <p:cNvPr id="7" name="Text 5"/>
          <p:cNvSpPr txBox="1"/>
          <p:nvPr/>
        </p:nvSpPr>
        <p:spPr>
          <a:xfrm>
            <a:off x="777240" y="3566160"/>
            <a:ext cx="2880360" cy="685800"/>
          </a:xfrm>
          <a:prstGeom prst="rect">
            <a:avLst/>
          </a:prstGeom>
          <a:noFill/>
          <a:ln/>
        </p:spPr>
        <p:txBody>
          <a:bodyPr wrap="square" rtlCol="0" anchor="ctr"/>
          <a:lstStyle/>
          <a:p>
            <a:pPr indent="0" marL="0">
              <a:lnSpc>
                <a:spcPct val="105000"/>
              </a:lnSpc>
              <a:buNone/>
            </a:pPr>
            <a:r>
              <a:rPr lang="en-US" sz="1700" b="1" dirty="0">
                <a:solidFill>
                  <a:srgbClr val="24402A"/>
                </a:solidFill>
                <a:latin typeface="Georgia" pitchFamily="34" charset="0"/>
                <a:ea typeface="Georgia" pitchFamily="34" charset="-122"/>
                <a:cs typeface="Georgia" pitchFamily="34" charset="-120"/>
              </a:rPr>
              <a:t>Climate Action</a:t>
            </a:r>
            <a:endParaRPr lang="en-US" sz="1700" dirty="0"/>
          </a:p>
        </p:txBody>
      </p:sp>
      <p:sp>
        <p:nvSpPr>
          <p:cNvPr id="8" name="Text 6"/>
          <p:cNvSpPr txBox="1"/>
          <p:nvPr/>
        </p:nvSpPr>
        <p:spPr>
          <a:xfrm>
            <a:off x="777240" y="4297680"/>
            <a:ext cx="2880360" cy="1143000"/>
          </a:xfrm>
          <a:prstGeom prst="rect">
            <a:avLst/>
          </a:prstGeom>
          <a:noFill/>
          <a:ln/>
        </p:spPr>
        <p:txBody>
          <a:bodyPr wrap="square" rtlCol="0" anchor="ctr"/>
          <a:lstStyle/>
          <a:p>
            <a:pPr indent="0" marL="0">
              <a:lnSpc>
                <a:spcPct val="130000"/>
              </a:lnSpc>
              <a:buNone/>
            </a:pPr>
            <a:r>
              <a:rPr lang="en-US" sz="1200" dirty="0">
                <a:solidFill>
                  <a:srgbClr val="4C5A45"/>
                </a:solidFill>
                <a:latin typeface="Calibri" pitchFamily="34" charset="0"/>
                <a:ea typeface="Calibri" pitchFamily="34" charset="-122"/>
                <a:cs typeface="Calibri" pitchFamily="34" charset="-120"/>
              </a:rPr>
              <a:t>Primary focus — helps individuals take informed, everyday climate action through practical guidance rather than abstract awareness.</a:t>
            </a:r>
            <a:endParaRPr lang="en-US" sz="1200" dirty="0"/>
          </a:p>
        </p:txBody>
      </p:sp>
      <p:sp>
        <p:nvSpPr>
          <p:cNvPr id="9" name="Shape 7"/>
          <p:cNvSpPr/>
          <p:nvPr/>
        </p:nvSpPr>
        <p:spPr>
          <a:xfrm>
            <a:off x="4206240" y="2286000"/>
            <a:ext cx="3337560" cy="3291840"/>
          </a:xfrm>
          <a:prstGeom prst="rect">
            <a:avLst/>
          </a:prstGeom>
          <a:solidFill>
            <a:srgbClr val="FAFAF4"/>
          </a:solidFill>
          <a:ln w="12700">
            <a:solidFill>
              <a:srgbClr val="D8DBC9"/>
            </a:solidFill>
            <a:prstDash val="solid"/>
          </a:ln>
        </p:spPr>
      </p:sp>
      <p:sp>
        <p:nvSpPr>
          <p:cNvPr id="10" name="Shape 8"/>
          <p:cNvSpPr/>
          <p:nvPr/>
        </p:nvSpPr>
        <p:spPr>
          <a:xfrm>
            <a:off x="4434840" y="2560320"/>
            <a:ext cx="822960" cy="822960"/>
          </a:xfrm>
          <a:prstGeom prst="rect">
            <a:avLst/>
          </a:prstGeom>
          <a:solidFill>
            <a:srgbClr val="B8672F"/>
          </a:solidFill>
          <a:ln/>
        </p:spPr>
      </p:sp>
      <p:sp>
        <p:nvSpPr>
          <p:cNvPr id="11" name="Text 9"/>
          <p:cNvSpPr txBox="1"/>
          <p:nvPr/>
        </p:nvSpPr>
        <p:spPr>
          <a:xfrm>
            <a:off x="4434840" y="2560320"/>
            <a:ext cx="822960" cy="82296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SDG 12</a:t>
            </a:r>
            <a:endParaRPr lang="en-US" sz="1600" dirty="0"/>
          </a:p>
        </p:txBody>
      </p:sp>
      <p:sp>
        <p:nvSpPr>
          <p:cNvPr id="12" name="Text 10"/>
          <p:cNvSpPr txBox="1"/>
          <p:nvPr/>
        </p:nvSpPr>
        <p:spPr>
          <a:xfrm>
            <a:off x="4434840" y="3566160"/>
            <a:ext cx="2880360" cy="685800"/>
          </a:xfrm>
          <a:prstGeom prst="rect">
            <a:avLst/>
          </a:prstGeom>
          <a:noFill/>
          <a:ln/>
        </p:spPr>
        <p:txBody>
          <a:bodyPr wrap="square" rtlCol="0" anchor="ctr"/>
          <a:lstStyle/>
          <a:p>
            <a:pPr indent="0" marL="0">
              <a:lnSpc>
                <a:spcPct val="105000"/>
              </a:lnSpc>
              <a:buNone/>
            </a:pPr>
            <a:r>
              <a:rPr lang="en-US" sz="1700" b="1" dirty="0">
                <a:solidFill>
                  <a:srgbClr val="24402A"/>
                </a:solidFill>
                <a:latin typeface="Georgia" pitchFamily="34" charset="0"/>
                <a:ea typeface="Georgia" pitchFamily="34" charset="-122"/>
                <a:cs typeface="Georgia" pitchFamily="34" charset="-120"/>
              </a:rPr>
              <a:t>Responsible Consumption</a:t>
            </a:r>
            <a:endParaRPr lang="en-US" sz="1700" dirty="0"/>
          </a:p>
          <a:p>
            <a:pPr indent="0" marL="0">
              <a:lnSpc>
                <a:spcPct val="105000"/>
              </a:lnSpc>
              <a:buNone/>
            </a:pPr>
            <a:r>
              <a:rPr lang="en-US" sz="1700" b="1" dirty="0">
                <a:solidFill>
                  <a:srgbClr val="24402A"/>
                </a:solidFill>
                <a:latin typeface="Georgia" pitchFamily="34" charset="0"/>
                <a:ea typeface="Georgia" pitchFamily="34" charset="-122"/>
                <a:cs typeface="Georgia" pitchFamily="34" charset="-120"/>
              </a:rPr>
              <a:t>&amp; Production</a:t>
            </a:r>
            <a:endParaRPr lang="en-US" sz="1700" dirty="0"/>
          </a:p>
        </p:txBody>
      </p:sp>
      <p:sp>
        <p:nvSpPr>
          <p:cNvPr id="13" name="Text 11"/>
          <p:cNvSpPr txBox="1"/>
          <p:nvPr/>
        </p:nvSpPr>
        <p:spPr>
          <a:xfrm>
            <a:off x="4434840" y="4297680"/>
            <a:ext cx="2880360" cy="1143000"/>
          </a:xfrm>
          <a:prstGeom prst="rect">
            <a:avLst/>
          </a:prstGeom>
          <a:noFill/>
          <a:ln/>
        </p:spPr>
        <p:txBody>
          <a:bodyPr wrap="square" rtlCol="0" anchor="ctr"/>
          <a:lstStyle/>
          <a:p>
            <a:pPr indent="0" marL="0">
              <a:lnSpc>
                <a:spcPct val="130000"/>
              </a:lnSpc>
              <a:buNone/>
            </a:pPr>
            <a:r>
              <a:rPr lang="en-US" sz="1200" dirty="0">
                <a:solidFill>
                  <a:srgbClr val="4C5A45"/>
                </a:solidFill>
                <a:latin typeface="Calibri" pitchFamily="34" charset="0"/>
                <a:ea typeface="Calibri" pitchFamily="34" charset="-122"/>
                <a:cs typeface="Calibri" pitchFamily="34" charset="-120"/>
              </a:rPr>
              <a:t>Correct waste segregation and recycling-code guidance reduces contamination and improves downstream recycling rates.</a:t>
            </a:r>
            <a:endParaRPr lang="en-US" sz="1200" dirty="0"/>
          </a:p>
        </p:txBody>
      </p:sp>
      <p:sp>
        <p:nvSpPr>
          <p:cNvPr id="14" name="Shape 12"/>
          <p:cNvSpPr/>
          <p:nvPr/>
        </p:nvSpPr>
        <p:spPr>
          <a:xfrm>
            <a:off x="7863840" y="2286000"/>
            <a:ext cx="3337560" cy="3291840"/>
          </a:xfrm>
          <a:prstGeom prst="rect">
            <a:avLst/>
          </a:prstGeom>
          <a:solidFill>
            <a:srgbClr val="FAFAF4"/>
          </a:solidFill>
          <a:ln w="12700">
            <a:solidFill>
              <a:srgbClr val="D8DBC9"/>
            </a:solidFill>
            <a:prstDash val="solid"/>
          </a:ln>
        </p:spPr>
      </p:sp>
      <p:sp>
        <p:nvSpPr>
          <p:cNvPr id="15" name="Shape 13"/>
          <p:cNvSpPr/>
          <p:nvPr/>
        </p:nvSpPr>
        <p:spPr>
          <a:xfrm>
            <a:off x="8092440" y="2560320"/>
            <a:ext cx="822960" cy="822960"/>
          </a:xfrm>
          <a:prstGeom prst="rect">
            <a:avLst/>
          </a:prstGeom>
          <a:solidFill>
            <a:srgbClr val="3E6E86"/>
          </a:solidFill>
          <a:ln/>
        </p:spPr>
      </p:sp>
      <p:sp>
        <p:nvSpPr>
          <p:cNvPr id="16" name="Text 14"/>
          <p:cNvSpPr txBox="1"/>
          <p:nvPr/>
        </p:nvSpPr>
        <p:spPr>
          <a:xfrm>
            <a:off x="8092440" y="2560320"/>
            <a:ext cx="822960" cy="82296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SDG 11</a:t>
            </a:r>
            <a:endParaRPr lang="en-US" sz="1600" dirty="0"/>
          </a:p>
        </p:txBody>
      </p:sp>
      <p:sp>
        <p:nvSpPr>
          <p:cNvPr id="17" name="Text 15"/>
          <p:cNvSpPr txBox="1"/>
          <p:nvPr/>
        </p:nvSpPr>
        <p:spPr>
          <a:xfrm>
            <a:off x="8092440" y="3566160"/>
            <a:ext cx="2880360" cy="685800"/>
          </a:xfrm>
          <a:prstGeom prst="rect">
            <a:avLst/>
          </a:prstGeom>
          <a:noFill/>
          <a:ln/>
        </p:spPr>
        <p:txBody>
          <a:bodyPr wrap="square" rtlCol="0" anchor="ctr"/>
          <a:lstStyle/>
          <a:p>
            <a:pPr indent="0" marL="0">
              <a:lnSpc>
                <a:spcPct val="105000"/>
              </a:lnSpc>
              <a:buNone/>
            </a:pPr>
            <a:r>
              <a:rPr lang="en-US" sz="1700" b="1" dirty="0">
                <a:solidFill>
                  <a:srgbClr val="24402A"/>
                </a:solidFill>
                <a:latin typeface="Georgia" pitchFamily="34" charset="0"/>
                <a:ea typeface="Georgia" pitchFamily="34" charset="-122"/>
                <a:cs typeface="Georgia" pitchFamily="34" charset="-120"/>
              </a:rPr>
              <a:t>Sustainable Cities</a:t>
            </a:r>
            <a:endParaRPr lang="en-US" sz="1700" dirty="0"/>
          </a:p>
          <a:p>
            <a:pPr indent="0" marL="0">
              <a:lnSpc>
                <a:spcPct val="105000"/>
              </a:lnSpc>
              <a:buNone/>
            </a:pPr>
            <a:r>
              <a:rPr lang="en-US" sz="1700" b="1" dirty="0">
                <a:solidFill>
                  <a:srgbClr val="24402A"/>
                </a:solidFill>
                <a:latin typeface="Georgia" pitchFamily="34" charset="0"/>
                <a:ea typeface="Georgia" pitchFamily="34" charset="-122"/>
                <a:cs typeface="Georgia" pitchFamily="34" charset="-120"/>
              </a:rPr>
              <a:t>&amp; Communities</a:t>
            </a:r>
            <a:endParaRPr lang="en-US" sz="1700" dirty="0"/>
          </a:p>
        </p:txBody>
      </p:sp>
      <p:sp>
        <p:nvSpPr>
          <p:cNvPr id="18" name="Text 16"/>
          <p:cNvSpPr txBox="1"/>
          <p:nvPr/>
        </p:nvSpPr>
        <p:spPr>
          <a:xfrm>
            <a:off x="8092440" y="4297680"/>
            <a:ext cx="2880360" cy="1143000"/>
          </a:xfrm>
          <a:prstGeom prst="rect">
            <a:avLst/>
          </a:prstGeom>
          <a:noFill/>
          <a:ln/>
        </p:spPr>
        <p:txBody>
          <a:bodyPr wrap="square" rtlCol="0" anchor="ctr"/>
          <a:lstStyle/>
          <a:p>
            <a:pPr indent="0" marL="0">
              <a:lnSpc>
                <a:spcPct val="130000"/>
              </a:lnSpc>
              <a:buNone/>
            </a:pPr>
            <a:r>
              <a:rPr lang="en-US" sz="1200" dirty="0">
                <a:solidFill>
                  <a:srgbClr val="4C5A45"/>
                </a:solidFill>
                <a:latin typeface="Calibri" pitchFamily="34" charset="0"/>
                <a:ea typeface="Calibri" pitchFamily="34" charset="-122"/>
                <a:cs typeface="Calibri" pitchFamily="34" charset="-120"/>
              </a:rPr>
              <a:t>AQI-aware, city-specific guidance helps residents adapt daily behaviour to local environmental conditions.</a:t>
            </a:r>
            <a:endParaRPr lang="en-US" sz="1200" dirty="0"/>
          </a:p>
        </p:txBody>
      </p:sp>
      <p:sp>
        <p:nvSpPr>
          <p:cNvPr id="19" name="Text 17"/>
          <p:cNvSpPr txBox="1"/>
          <p:nvPr/>
        </p:nvSpPr>
        <p:spPr>
          <a:xfrm>
            <a:off x="11521440" y="6446520"/>
            <a:ext cx="548640" cy="274320"/>
          </a:xfrm>
          <a:prstGeom prst="rect">
            <a:avLst/>
          </a:prstGeom>
          <a:noFill/>
          <a:ln/>
        </p:spPr>
        <p:txBody>
          <a:bodyPr wrap="square" rtlCol="0" anchor="ctr"/>
          <a:lstStyle/>
          <a:p>
            <a:pPr algn="r" indent="0" marL="0">
              <a:buNone/>
            </a:pPr>
            <a:r>
              <a:rPr lang="en-US" sz="1000" dirty="0">
                <a:solidFill>
                  <a:srgbClr val="4C5A45"/>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74320"/>
          </a:xfrm>
          <a:prstGeom prst="rect">
            <a:avLst/>
          </a:prstGeom>
          <a:noFill/>
          <a:ln/>
        </p:spPr>
        <p:txBody>
          <a:bodyPr wrap="square" rtlCol="0" anchor="ctr"/>
          <a:lstStyle/>
          <a:p>
            <a:pPr indent="0" marL="0">
              <a:buNone/>
            </a:pPr>
            <a:r>
              <a:rPr lang="en-US" sz="1100" b="1" spc="100" kern="0" dirty="0">
                <a:solidFill>
                  <a:srgbClr val="4C5A45"/>
                </a:solidFill>
                <a:latin typeface="Calibri" pitchFamily="34" charset="0"/>
                <a:ea typeface="Calibri" pitchFamily="34" charset="-122"/>
                <a:cs typeface="Calibri" pitchFamily="34" charset="-120"/>
              </a:rPr>
              <a:t>AI SOLUTION OVERVIEW</a:t>
            </a:r>
            <a:endParaRPr lang="en-US" sz="1100" dirty="0"/>
          </a:p>
        </p:txBody>
      </p:sp>
      <p:sp>
        <p:nvSpPr>
          <p:cNvPr id="3" name="Text 1"/>
          <p:cNvSpPr txBox="1"/>
          <p:nvPr/>
        </p:nvSpPr>
        <p:spPr>
          <a:xfrm>
            <a:off x="548640" y="777240"/>
            <a:ext cx="10058400" cy="1188720"/>
          </a:xfrm>
          <a:prstGeom prst="rect">
            <a:avLst/>
          </a:prstGeom>
          <a:noFill/>
          <a:ln/>
        </p:spPr>
        <p:txBody>
          <a:bodyPr wrap="square" rtlCol="0" anchor="ctr"/>
          <a:lstStyle/>
          <a:p>
            <a:pPr indent="0" marL="0">
              <a:buNone/>
            </a:pPr>
            <a:r>
              <a:rPr lang="en-US" sz="3000" dirty="0">
                <a:solidFill>
                  <a:srgbClr val="24402A"/>
                </a:solidFill>
                <a:latin typeface="Georgia" pitchFamily="34" charset="0"/>
                <a:ea typeface="Georgia" pitchFamily="34" charset="-122"/>
                <a:cs typeface="Georgia" pitchFamily="34" charset="-120"/>
              </a:rPr>
              <a:t>A retrieval-augmented generation (RAG)</a:t>
            </a:r>
            <a:endParaRPr lang="en-US" sz="3000" dirty="0"/>
          </a:p>
          <a:p>
            <a:pPr indent="0" marL="0">
              <a:buNone/>
            </a:pPr>
            <a:r>
              <a:rPr lang="en-US" sz="3000" dirty="0">
                <a:solidFill>
                  <a:srgbClr val="24402A"/>
                </a:solidFill>
                <a:latin typeface="Georgia" pitchFamily="34" charset="0"/>
                <a:ea typeface="Georgia" pitchFamily="34" charset="-122"/>
                <a:cs typeface="Georgia" pitchFamily="34" charset="-120"/>
              </a:rPr>
              <a:t>pipeline, not a static FAQ</a:t>
            </a:r>
            <a:endParaRPr lang="en-US" sz="3000" dirty="0"/>
          </a:p>
        </p:txBody>
      </p:sp>
      <p:sp>
        <p:nvSpPr>
          <p:cNvPr id="4" name="Shape 2"/>
          <p:cNvSpPr/>
          <p:nvPr/>
        </p:nvSpPr>
        <p:spPr>
          <a:xfrm>
            <a:off x="548640" y="2286000"/>
            <a:ext cx="2514600" cy="2377440"/>
          </a:xfrm>
          <a:prstGeom prst="rect">
            <a:avLst/>
          </a:prstGeom>
          <a:solidFill>
            <a:srgbClr val="F1F2E8"/>
          </a:solidFill>
          <a:ln w="12700">
            <a:solidFill>
              <a:srgbClr val="D8DBC9"/>
            </a:solidFill>
            <a:prstDash val="solid"/>
          </a:ln>
        </p:spPr>
      </p:sp>
      <p:sp>
        <p:nvSpPr>
          <p:cNvPr id="5" name="Text 3"/>
          <p:cNvSpPr txBox="1"/>
          <p:nvPr/>
        </p:nvSpPr>
        <p:spPr>
          <a:xfrm>
            <a:off x="731520" y="2468880"/>
            <a:ext cx="548640" cy="457200"/>
          </a:xfrm>
          <a:prstGeom prst="rect">
            <a:avLst/>
          </a:prstGeom>
          <a:noFill/>
          <a:ln/>
        </p:spPr>
        <p:txBody>
          <a:bodyPr wrap="square" rtlCol="0" anchor="ctr"/>
          <a:lstStyle/>
          <a:p>
            <a:pPr indent="0" marL="0">
              <a:buNone/>
            </a:pPr>
            <a:r>
              <a:rPr lang="en-US" sz="2200" b="1" dirty="0">
                <a:solidFill>
                  <a:srgbClr val="35563C"/>
                </a:solidFill>
                <a:latin typeface="Georgia" pitchFamily="34" charset="0"/>
                <a:ea typeface="Georgia" pitchFamily="34" charset="-122"/>
                <a:cs typeface="Georgia" pitchFamily="34" charset="-120"/>
              </a:rPr>
              <a:t>1</a:t>
            </a:r>
            <a:endParaRPr lang="en-US" sz="2200" dirty="0"/>
          </a:p>
        </p:txBody>
      </p:sp>
      <p:sp>
        <p:nvSpPr>
          <p:cNvPr id="6" name="Text 4"/>
          <p:cNvSpPr txBox="1"/>
          <p:nvPr/>
        </p:nvSpPr>
        <p:spPr>
          <a:xfrm>
            <a:off x="731520" y="2971800"/>
            <a:ext cx="2148840" cy="411480"/>
          </a:xfrm>
          <a:prstGeom prst="rect">
            <a:avLst/>
          </a:prstGeom>
          <a:noFill/>
          <a:ln/>
        </p:spPr>
        <p:txBody>
          <a:bodyPr wrap="square" rtlCol="0" anchor="ctr"/>
          <a:lstStyle/>
          <a:p>
            <a:pPr indent="0" marL="0">
              <a:buNone/>
            </a:pPr>
            <a:r>
              <a:rPr lang="en-US" sz="1600" b="1" dirty="0">
                <a:solidFill>
                  <a:srgbClr val="24402A"/>
                </a:solidFill>
                <a:latin typeface="Georgia" pitchFamily="34" charset="0"/>
                <a:ea typeface="Georgia" pitchFamily="34" charset="-122"/>
                <a:cs typeface="Georgia" pitchFamily="34" charset="-120"/>
              </a:rPr>
              <a:t>Query</a:t>
            </a:r>
            <a:endParaRPr lang="en-US" sz="1600" dirty="0"/>
          </a:p>
        </p:txBody>
      </p:sp>
      <p:sp>
        <p:nvSpPr>
          <p:cNvPr id="7" name="Text 5"/>
          <p:cNvSpPr txBox="1"/>
          <p:nvPr/>
        </p:nvSpPr>
        <p:spPr>
          <a:xfrm>
            <a:off x="731520" y="3429000"/>
            <a:ext cx="2148840" cy="1097280"/>
          </a:xfrm>
          <a:prstGeom prst="rect">
            <a:avLst/>
          </a:prstGeom>
          <a:noFill/>
          <a:ln/>
        </p:spPr>
        <p:txBody>
          <a:bodyPr wrap="square" rtlCol="0" anchor="ctr"/>
          <a:lstStyle/>
          <a:p>
            <a:pPr indent="0" marL="0">
              <a:lnSpc>
                <a:spcPct val="130000"/>
              </a:lnSpc>
              <a:buNone/>
            </a:pPr>
            <a:r>
              <a:rPr lang="en-US" sz="1150" dirty="0">
                <a:solidFill>
                  <a:srgbClr val="4C5A45"/>
                </a:solidFill>
                <a:latin typeface="Calibri" pitchFamily="34" charset="0"/>
                <a:ea typeface="Calibri" pitchFamily="34" charset="-122"/>
                <a:cs typeface="Calibri" pitchFamily="34" charset="-120"/>
              </a:rPr>
              <a:t>A user asks a free-form question in plain language.</a:t>
            </a:r>
            <a:endParaRPr lang="en-US" sz="1150" dirty="0"/>
          </a:p>
        </p:txBody>
      </p:sp>
      <p:sp>
        <p:nvSpPr>
          <p:cNvPr id="8" name="Text 6"/>
          <p:cNvSpPr txBox="1"/>
          <p:nvPr/>
        </p:nvSpPr>
        <p:spPr>
          <a:xfrm>
            <a:off x="3044952" y="3273552"/>
            <a:ext cx="292608" cy="402336"/>
          </a:xfrm>
          <a:prstGeom prst="rect">
            <a:avLst/>
          </a:prstGeom>
          <a:noFill/>
          <a:ln/>
        </p:spPr>
        <p:txBody>
          <a:bodyPr wrap="square" rtlCol="0" anchor="ctr"/>
          <a:lstStyle/>
          <a:p>
            <a:pPr algn="ctr" indent="0" marL="0">
              <a:buNone/>
            </a:pPr>
            <a:r>
              <a:rPr lang="en-US" sz="1800" dirty="0">
                <a:solidFill>
                  <a:srgbClr val="4C5A45"/>
                </a:solidFill>
                <a:latin typeface="Arial" pitchFamily="34" charset="0"/>
                <a:ea typeface="Arial" pitchFamily="34" charset="-122"/>
                <a:cs typeface="Arial" pitchFamily="34" charset="-120"/>
              </a:rPr>
              <a:t>→</a:t>
            </a:r>
            <a:endParaRPr lang="en-US" sz="1800" dirty="0"/>
          </a:p>
        </p:txBody>
      </p:sp>
      <p:sp>
        <p:nvSpPr>
          <p:cNvPr id="9" name="Shape 7"/>
          <p:cNvSpPr/>
          <p:nvPr/>
        </p:nvSpPr>
        <p:spPr>
          <a:xfrm>
            <a:off x="3319272" y="2286000"/>
            <a:ext cx="2514600" cy="2377440"/>
          </a:xfrm>
          <a:prstGeom prst="rect">
            <a:avLst/>
          </a:prstGeom>
          <a:solidFill>
            <a:srgbClr val="FAFAF4"/>
          </a:solidFill>
          <a:ln w="12700">
            <a:solidFill>
              <a:srgbClr val="D8DBC9"/>
            </a:solidFill>
            <a:prstDash val="solid"/>
          </a:ln>
        </p:spPr>
      </p:sp>
      <p:sp>
        <p:nvSpPr>
          <p:cNvPr id="10" name="Text 8"/>
          <p:cNvSpPr txBox="1"/>
          <p:nvPr/>
        </p:nvSpPr>
        <p:spPr>
          <a:xfrm>
            <a:off x="3502152" y="2468880"/>
            <a:ext cx="548640" cy="457200"/>
          </a:xfrm>
          <a:prstGeom prst="rect">
            <a:avLst/>
          </a:prstGeom>
          <a:noFill/>
          <a:ln/>
        </p:spPr>
        <p:txBody>
          <a:bodyPr wrap="square" rtlCol="0" anchor="ctr"/>
          <a:lstStyle/>
          <a:p>
            <a:pPr indent="0" marL="0">
              <a:buNone/>
            </a:pPr>
            <a:r>
              <a:rPr lang="en-US" sz="2200" b="1" dirty="0">
                <a:solidFill>
                  <a:srgbClr val="35563C"/>
                </a:solidFill>
                <a:latin typeface="Georgia" pitchFamily="34" charset="0"/>
                <a:ea typeface="Georgia" pitchFamily="34" charset="-122"/>
                <a:cs typeface="Georgia" pitchFamily="34" charset="-120"/>
              </a:rPr>
              <a:t>2</a:t>
            </a:r>
            <a:endParaRPr lang="en-US" sz="2200" dirty="0"/>
          </a:p>
        </p:txBody>
      </p:sp>
      <p:sp>
        <p:nvSpPr>
          <p:cNvPr id="11" name="Text 9"/>
          <p:cNvSpPr txBox="1"/>
          <p:nvPr/>
        </p:nvSpPr>
        <p:spPr>
          <a:xfrm>
            <a:off x="3502152" y="2971800"/>
            <a:ext cx="2148840" cy="411480"/>
          </a:xfrm>
          <a:prstGeom prst="rect">
            <a:avLst/>
          </a:prstGeom>
          <a:noFill/>
          <a:ln/>
        </p:spPr>
        <p:txBody>
          <a:bodyPr wrap="square" rtlCol="0" anchor="ctr"/>
          <a:lstStyle/>
          <a:p>
            <a:pPr indent="0" marL="0">
              <a:buNone/>
            </a:pPr>
            <a:r>
              <a:rPr lang="en-US" sz="1600" b="1" dirty="0">
                <a:solidFill>
                  <a:srgbClr val="24402A"/>
                </a:solidFill>
                <a:latin typeface="Georgia" pitchFamily="34" charset="0"/>
                <a:ea typeface="Georgia" pitchFamily="34" charset="-122"/>
                <a:cs typeface="Georgia" pitchFamily="34" charset="-120"/>
              </a:rPr>
              <a:t>Retrieve</a:t>
            </a:r>
            <a:endParaRPr lang="en-US" sz="1600" dirty="0"/>
          </a:p>
        </p:txBody>
      </p:sp>
      <p:sp>
        <p:nvSpPr>
          <p:cNvPr id="12" name="Text 10"/>
          <p:cNvSpPr txBox="1"/>
          <p:nvPr/>
        </p:nvSpPr>
        <p:spPr>
          <a:xfrm>
            <a:off x="3502152" y="3429000"/>
            <a:ext cx="2148840" cy="1097280"/>
          </a:xfrm>
          <a:prstGeom prst="rect">
            <a:avLst/>
          </a:prstGeom>
          <a:noFill/>
          <a:ln/>
        </p:spPr>
        <p:txBody>
          <a:bodyPr wrap="square" rtlCol="0" anchor="ctr"/>
          <a:lstStyle/>
          <a:p>
            <a:pPr indent="0" marL="0">
              <a:lnSpc>
                <a:spcPct val="130000"/>
              </a:lnSpc>
              <a:buNone/>
            </a:pPr>
            <a:r>
              <a:rPr lang="en-US" sz="1150" dirty="0">
                <a:solidFill>
                  <a:srgbClr val="4C5A45"/>
                </a:solidFill>
                <a:latin typeface="Calibri" pitchFamily="34" charset="0"/>
                <a:ea typeface="Calibri" pitchFamily="34" charset="-122"/>
                <a:cs typeface="Calibri" pitchFamily="34" charset="-120"/>
              </a:rPr>
              <a:t>The system searches a knowledge base of waste, AQI, and climate documents for the most relevant passages.</a:t>
            </a:r>
            <a:endParaRPr lang="en-US" sz="1150" dirty="0"/>
          </a:p>
        </p:txBody>
      </p:sp>
      <p:sp>
        <p:nvSpPr>
          <p:cNvPr id="13" name="Text 11"/>
          <p:cNvSpPr txBox="1"/>
          <p:nvPr/>
        </p:nvSpPr>
        <p:spPr>
          <a:xfrm>
            <a:off x="5815584" y="3273552"/>
            <a:ext cx="292608" cy="402336"/>
          </a:xfrm>
          <a:prstGeom prst="rect">
            <a:avLst/>
          </a:prstGeom>
          <a:noFill/>
          <a:ln/>
        </p:spPr>
        <p:txBody>
          <a:bodyPr wrap="square" rtlCol="0" anchor="ctr"/>
          <a:lstStyle/>
          <a:p>
            <a:pPr algn="ctr" indent="0" marL="0">
              <a:buNone/>
            </a:pPr>
            <a:r>
              <a:rPr lang="en-US" sz="1800" dirty="0">
                <a:solidFill>
                  <a:srgbClr val="4C5A45"/>
                </a:solidFill>
                <a:latin typeface="Arial" pitchFamily="34" charset="0"/>
                <a:ea typeface="Arial" pitchFamily="34" charset="-122"/>
                <a:cs typeface="Arial" pitchFamily="34" charset="-120"/>
              </a:rPr>
              <a:t>→</a:t>
            </a:r>
            <a:endParaRPr lang="en-US" sz="1800" dirty="0"/>
          </a:p>
        </p:txBody>
      </p:sp>
      <p:sp>
        <p:nvSpPr>
          <p:cNvPr id="14" name="Shape 12"/>
          <p:cNvSpPr/>
          <p:nvPr/>
        </p:nvSpPr>
        <p:spPr>
          <a:xfrm>
            <a:off x="6089904" y="2286000"/>
            <a:ext cx="2514600" cy="2377440"/>
          </a:xfrm>
          <a:prstGeom prst="rect">
            <a:avLst/>
          </a:prstGeom>
          <a:solidFill>
            <a:srgbClr val="F1F2E8"/>
          </a:solidFill>
          <a:ln w="12700">
            <a:solidFill>
              <a:srgbClr val="D8DBC9"/>
            </a:solidFill>
            <a:prstDash val="solid"/>
          </a:ln>
        </p:spPr>
      </p:sp>
      <p:sp>
        <p:nvSpPr>
          <p:cNvPr id="15" name="Text 13"/>
          <p:cNvSpPr txBox="1"/>
          <p:nvPr/>
        </p:nvSpPr>
        <p:spPr>
          <a:xfrm>
            <a:off x="6272784" y="2468880"/>
            <a:ext cx="548640" cy="457200"/>
          </a:xfrm>
          <a:prstGeom prst="rect">
            <a:avLst/>
          </a:prstGeom>
          <a:noFill/>
          <a:ln/>
        </p:spPr>
        <p:txBody>
          <a:bodyPr wrap="square" rtlCol="0" anchor="ctr"/>
          <a:lstStyle/>
          <a:p>
            <a:pPr indent="0" marL="0">
              <a:buNone/>
            </a:pPr>
            <a:r>
              <a:rPr lang="en-US" sz="2200" b="1" dirty="0">
                <a:solidFill>
                  <a:srgbClr val="35563C"/>
                </a:solidFill>
                <a:latin typeface="Georgia" pitchFamily="34" charset="0"/>
                <a:ea typeface="Georgia" pitchFamily="34" charset="-122"/>
                <a:cs typeface="Georgia" pitchFamily="34" charset="-120"/>
              </a:rPr>
              <a:t>3</a:t>
            </a:r>
            <a:endParaRPr lang="en-US" sz="2200" dirty="0"/>
          </a:p>
        </p:txBody>
      </p:sp>
      <p:sp>
        <p:nvSpPr>
          <p:cNvPr id="16" name="Text 14"/>
          <p:cNvSpPr txBox="1"/>
          <p:nvPr/>
        </p:nvSpPr>
        <p:spPr>
          <a:xfrm>
            <a:off x="6272784" y="2971800"/>
            <a:ext cx="2148840" cy="411480"/>
          </a:xfrm>
          <a:prstGeom prst="rect">
            <a:avLst/>
          </a:prstGeom>
          <a:noFill/>
          <a:ln/>
        </p:spPr>
        <p:txBody>
          <a:bodyPr wrap="square" rtlCol="0" anchor="ctr"/>
          <a:lstStyle/>
          <a:p>
            <a:pPr indent="0" marL="0">
              <a:buNone/>
            </a:pPr>
            <a:r>
              <a:rPr lang="en-US" sz="1600" b="1" dirty="0">
                <a:solidFill>
                  <a:srgbClr val="24402A"/>
                </a:solidFill>
                <a:latin typeface="Georgia" pitchFamily="34" charset="0"/>
                <a:ea typeface="Georgia" pitchFamily="34" charset="-122"/>
                <a:cs typeface="Georgia" pitchFamily="34" charset="-120"/>
              </a:rPr>
              <a:t>Ground</a:t>
            </a:r>
            <a:endParaRPr lang="en-US" sz="1600" dirty="0"/>
          </a:p>
        </p:txBody>
      </p:sp>
      <p:sp>
        <p:nvSpPr>
          <p:cNvPr id="17" name="Text 15"/>
          <p:cNvSpPr txBox="1"/>
          <p:nvPr/>
        </p:nvSpPr>
        <p:spPr>
          <a:xfrm>
            <a:off x="6272784" y="3429000"/>
            <a:ext cx="2148840" cy="1097280"/>
          </a:xfrm>
          <a:prstGeom prst="rect">
            <a:avLst/>
          </a:prstGeom>
          <a:noFill/>
          <a:ln/>
        </p:spPr>
        <p:txBody>
          <a:bodyPr wrap="square" rtlCol="0" anchor="ctr"/>
          <a:lstStyle/>
          <a:p>
            <a:pPr indent="0" marL="0">
              <a:lnSpc>
                <a:spcPct val="130000"/>
              </a:lnSpc>
              <a:buNone/>
            </a:pPr>
            <a:r>
              <a:rPr lang="en-US" sz="1150" dirty="0">
                <a:solidFill>
                  <a:srgbClr val="4C5A45"/>
                </a:solidFill>
                <a:latin typeface="Calibri" pitchFamily="34" charset="0"/>
                <a:ea typeface="Calibri" pitchFamily="34" charset="-122"/>
                <a:cs typeface="Calibri" pitchFamily="34" charset="-120"/>
              </a:rPr>
              <a:t>Only the retrieved passages are passed to the language model as context — it may not use outside knowledge.</a:t>
            </a:r>
            <a:endParaRPr lang="en-US" sz="1150" dirty="0"/>
          </a:p>
        </p:txBody>
      </p:sp>
      <p:sp>
        <p:nvSpPr>
          <p:cNvPr id="18" name="Text 16"/>
          <p:cNvSpPr txBox="1"/>
          <p:nvPr/>
        </p:nvSpPr>
        <p:spPr>
          <a:xfrm>
            <a:off x="8586216" y="3273552"/>
            <a:ext cx="292608" cy="402336"/>
          </a:xfrm>
          <a:prstGeom prst="rect">
            <a:avLst/>
          </a:prstGeom>
          <a:noFill/>
          <a:ln/>
        </p:spPr>
        <p:txBody>
          <a:bodyPr wrap="square" rtlCol="0" anchor="ctr"/>
          <a:lstStyle/>
          <a:p>
            <a:pPr algn="ctr" indent="0" marL="0">
              <a:buNone/>
            </a:pPr>
            <a:r>
              <a:rPr lang="en-US" sz="1800" dirty="0">
                <a:solidFill>
                  <a:srgbClr val="4C5A45"/>
                </a:solidFill>
                <a:latin typeface="Arial" pitchFamily="34" charset="0"/>
                <a:ea typeface="Arial" pitchFamily="34" charset="-122"/>
                <a:cs typeface="Arial" pitchFamily="34" charset="-120"/>
              </a:rPr>
              <a:t>→</a:t>
            </a:r>
            <a:endParaRPr lang="en-US" sz="1800" dirty="0"/>
          </a:p>
        </p:txBody>
      </p:sp>
      <p:sp>
        <p:nvSpPr>
          <p:cNvPr id="19" name="Shape 17"/>
          <p:cNvSpPr/>
          <p:nvPr/>
        </p:nvSpPr>
        <p:spPr>
          <a:xfrm>
            <a:off x="8860536" y="2286000"/>
            <a:ext cx="2514600" cy="2377440"/>
          </a:xfrm>
          <a:prstGeom prst="rect">
            <a:avLst/>
          </a:prstGeom>
          <a:solidFill>
            <a:srgbClr val="FAFAF4"/>
          </a:solidFill>
          <a:ln w="12700">
            <a:solidFill>
              <a:srgbClr val="D8DBC9"/>
            </a:solidFill>
            <a:prstDash val="solid"/>
          </a:ln>
        </p:spPr>
      </p:sp>
      <p:sp>
        <p:nvSpPr>
          <p:cNvPr id="20" name="Text 18"/>
          <p:cNvSpPr txBox="1"/>
          <p:nvPr/>
        </p:nvSpPr>
        <p:spPr>
          <a:xfrm>
            <a:off x="9043416" y="2468880"/>
            <a:ext cx="548640" cy="457200"/>
          </a:xfrm>
          <a:prstGeom prst="rect">
            <a:avLst/>
          </a:prstGeom>
          <a:noFill/>
          <a:ln/>
        </p:spPr>
        <p:txBody>
          <a:bodyPr wrap="square" rtlCol="0" anchor="ctr"/>
          <a:lstStyle/>
          <a:p>
            <a:pPr indent="0" marL="0">
              <a:buNone/>
            </a:pPr>
            <a:r>
              <a:rPr lang="en-US" sz="2200" b="1" dirty="0">
                <a:solidFill>
                  <a:srgbClr val="35563C"/>
                </a:solidFill>
                <a:latin typeface="Georgia" pitchFamily="34" charset="0"/>
                <a:ea typeface="Georgia" pitchFamily="34" charset="-122"/>
                <a:cs typeface="Georgia" pitchFamily="34" charset="-120"/>
              </a:rPr>
              <a:t>4</a:t>
            </a:r>
            <a:endParaRPr lang="en-US" sz="2200" dirty="0"/>
          </a:p>
        </p:txBody>
      </p:sp>
      <p:sp>
        <p:nvSpPr>
          <p:cNvPr id="21" name="Text 19"/>
          <p:cNvSpPr txBox="1"/>
          <p:nvPr/>
        </p:nvSpPr>
        <p:spPr>
          <a:xfrm>
            <a:off x="9043416" y="2971800"/>
            <a:ext cx="2148840" cy="411480"/>
          </a:xfrm>
          <a:prstGeom prst="rect">
            <a:avLst/>
          </a:prstGeom>
          <a:noFill/>
          <a:ln/>
        </p:spPr>
        <p:txBody>
          <a:bodyPr wrap="square" rtlCol="0" anchor="ctr"/>
          <a:lstStyle/>
          <a:p>
            <a:pPr indent="0" marL="0">
              <a:buNone/>
            </a:pPr>
            <a:r>
              <a:rPr lang="en-US" sz="1600" b="1" dirty="0">
                <a:solidFill>
                  <a:srgbClr val="24402A"/>
                </a:solidFill>
                <a:latin typeface="Georgia" pitchFamily="34" charset="0"/>
                <a:ea typeface="Georgia" pitchFamily="34" charset="-122"/>
                <a:cs typeface="Georgia" pitchFamily="34" charset="-120"/>
              </a:rPr>
              <a:t>Generate + Cite</a:t>
            </a:r>
            <a:endParaRPr lang="en-US" sz="1600" dirty="0"/>
          </a:p>
        </p:txBody>
      </p:sp>
      <p:sp>
        <p:nvSpPr>
          <p:cNvPr id="22" name="Text 20"/>
          <p:cNvSpPr txBox="1"/>
          <p:nvPr/>
        </p:nvSpPr>
        <p:spPr>
          <a:xfrm>
            <a:off x="9043416" y="3429000"/>
            <a:ext cx="2148840" cy="1097280"/>
          </a:xfrm>
          <a:prstGeom prst="rect">
            <a:avLst/>
          </a:prstGeom>
          <a:noFill/>
          <a:ln/>
        </p:spPr>
        <p:txBody>
          <a:bodyPr wrap="square" rtlCol="0" anchor="ctr"/>
          <a:lstStyle/>
          <a:p>
            <a:pPr indent="0" marL="0">
              <a:lnSpc>
                <a:spcPct val="130000"/>
              </a:lnSpc>
              <a:buNone/>
            </a:pPr>
            <a:r>
              <a:rPr lang="en-US" sz="1150" dirty="0">
                <a:solidFill>
                  <a:srgbClr val="4C5A45"/>
                </a:solidFill>
                <a:latin typeface="Calibri" pitchFamily="34" charset="0"/>
                <a:ea typeface="Calibri" pitchFamily="34" charset="-122"/>
                <a:cs typeface="Calibri" pitchFamily="34" charset="-120"/>
              </a:rPr>
              <a:t>The model produces a plain-language answer and cites which source document it drew from.</a:t>
            </a:r>
            <a:endParaRPr lang="en-US" sz="1150" dirty="0"/>
          </a:p>
        </p:txBody>
      </p:sp>
      <p:sp>
        <p:nvSpPr>
          <p:cNvPr id="23" name="Text 21"/>
          <p:cNvSpPr txBox="1"/>
          <p:nvPr/>
        </p:nvSpPr>
        <p:spPr>
          <a:xfrm>
            <a:off x="548640" y="5074920"/>
            <a:ext cx="10515600" cy="457200"/>
          </a:xfrm>
          <a:prstGeom prst="rect">
            <a:avLst/>
          </a:prstGeom>
          <a:noFill/>
          <a:ln/>
        </p:spPr>
        <p:txBody>
          <a:bodyPr wrap="square" rtlCol="0" anchor="ctr"/>
          <a:lstStyle/>
          <a:p>
            <a:pPr indent="0" marL="0">
              <a:buNone/>
            </a:pPr>
            <a:r>
              <a:rPr lang="en-US" sz="1250" i="1" dirty="0">
                <a:solidFill>
                  <a:srgbClr val="4C5A45"/>
                </a:solidFill>
                <a:latin typeface="Calibri" pitchFamily="34" charset="0"/>
                <a:ea typeface="Calibri" pitchFamily="34" charset="-122"/>
                <a:cs typeface="Calibri" pitchFamily="34" charset="-120"/>
              </a:rPr>
              <a:t>Tech stack: PDF ingestion → text chunking → keyword/vector retrieval → grounded LLM response (IBM Granite / Claude) → source-cited answer</a:t>
            </a:r>
            <a:endParaRPr lang="en-US" sz="1250" dirty="0"/>
          </a:p>
        </p:txBody>
      </p:sp>
      <p:sp>
        <p:nvSpPr>
          <p:cNvPr id="24" name="Text 22"/>
          <p:cNvSpPr txBox="1"/>
          <p:nvPr/>
        </p:nvSpPr>
        <p:spPr>
          <a:xfrm>
            <a:off x="11521440" y="6446520"/>
            <a:ext cx="548640" cy="274320"/>
          </a:xfrm>
          <a:prstGeom prst="rect">
            <a:avLst/>
          </a:prstGeom>
          <a:noFill/>
          <a:ln/>
        </p:spPr>
        <p:txBody>
          <a:bodyPr wrap="square" rtlCol="0" anchor="ctr"/>
          <a:lstStyle/>
          <a:p>
            <a:pPr algn="r" indent="0" marL="0">
              <a:buNone/>
            </a:pPr>
            <a:r>
              <a:rPr lang="en-US" sz="1000" dirty="0">
                <a:solidFill>
                  <a:srgbClr val="4C5A45"/>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74320"/>
          </a:xfrm>
          <a:prstGeom prst="rect">
            <a:avLst/>
          </a:prstGeom>
          <a:noFill/>
          <a:ln/>
        </p:spPr>
        <p:txBody>
          <a:bodyPr wrap="square" rtlCol="0" anchor="ctr"/>
          <a:lstStyle/>
          <a:p>
            <a:pPr indent="0" marL="0">
              <a:buNone/>
            </a:pPr>
            <a:r>
              <a:rPr lang="en-US" sz="1100" b="1" spc="100" kern="0" dirty="0">
                <a:solidFill>
                  <a:srgbClr val="4C5A45"/>
                </a:solidFill>
                <a:latin typeface="Calibri" pitchFamily="34" charset="0"/>
                <a:ea typeface="Calibri" pitchFamily="34" charset="-122"/>
                <a:cs typeface="Calibri" pitchFamily="34" charset="-120"/>
              </a:rPr>
              <a:t>TARGET USERS</a:t>
            </a:r>
            <a:endParaRPr lang="en-US" sz="1100" dirty="0"/>
          </a:p>
        </p:txBody>
      </p:sp>
      <p:sp>
        <p:nvSpPr>
          <p:cNvPr id="3" name="Text 1"/>
          <p:cNvSpPr txBox="1"/>
          <p:nvPr/>
        </p:nvSpPr>
        <p:spPr>
          <a:xfrm>
            <a:off x="548640" y="777240"/>
            <a:ext cx="9601200" cy="1188720"/>
          </a:xfrm>
          <a:prstGeom prst="rect">
            <a:avLst/>
          </a:prstGeom>
          <a:noFill/>
          <a:ln/>
        </p:spPr>
        <p:txBody>
          <a:bodyPr wrap="square" rtlCol="0" anchor="ctr"/>
          <a:lstStyle/>
          <a:p>
            <a:pPr indent="0" marL="0">
              <a:buNone/>
            </a:pPr>
            <a:r>
              <a:rPr lang="en-US" sz="3000" dirty="0">
                <a:solidFill>
                  <a:srgbClr val="24402A"/>
                </a:solidFill>
                <a:latin typeface="Georgia" pitchFamily="34" charset="0"/>
                <a:ea typeface="Georgia" pitchFamily="34" charset="-122"/>
                <a:cs typeface="Georgia" pitchFamily="34" charset="-120"/>
              </a:rPr>
              <a:t>Built for the people making</a:t>
            </a:r>
            <a:endParaRPr lang="en-US" sz="3000" dirty="0"/>
          </a:p>
          <a:p>
            <a:pPr indent="0" marL="0">
              <a:buNone/>
            </a:pPr>
            <a:r>
              <a:rPr lang="en-US" sz="3000" dirty="0">
                <a:solidFill>
                  <a:srgbClr val="24402A"/>
                </a:solidFill>
                <a:latin typeface="Georgia" pitchFamily="34" charset="0"/>
                <a:ea typeface="Georgia" pitchFamily="34" charset="-122"/>
                <a:cs typeface="Georgia" pitchFamily="34" charset="-120"/>
              </a:rPr>
              <a:t>day-to-day sustainability decisions</a:t>
            </a:r>
            <a:endParaRPr lang="en-US" sz="3000" dirty="0"/>
          </a:p>
        </p:txBody>
      </p:sp>
      <p:sp>
        <p:nvSpPr>
          <p:cNvPr id="4" name="Shape 2"/>
          <p:cNvSpPr/>
          <p:nvPr/>
        </p:nvSpPr>
        <p:spPr>
          <a:xfrm>
            <a:off x="548640" y="2286000"/>
            <a:ext cx="5120640" cy="1417320"/>
          </a:xfrm>
          <a:prstGeom prst="rect">
            <a:avLst/>
          </a:prstGeom>
          <a:solidFill>
            <a:srgbClr val="F1F2E8"/>
          </a:solidFill>
          <a:ln w="12700">
            <a:solidFill>
              <a:srgbClr val="D8DBC9"/>
            </a:solidFill>
            <a:prstDash val="solid"/>
          </a:ln>
        </p:spPr>
      </p:sp>
      <p:sp>
        <p:nvSpPr>
          <p:cNvPr id="5" name="Text 3"/>
          <p:cNvSpPr txBox="1"/>
          <p:nvPr/>
        </p:nvSpPr>
        <p:spPr>
          <a:xfrm>
            <a:off x="777240" y="2450592"/>
            <a:ext cx="4663440" cy="365760"/>
          </a:xfrm>
          <a:prstGeom prst="rect">
            <a:avLst/>
          </a:prstGeom>
          <a:noFill/>
          <a:ln/>
        </p:spPr>
        <p:txBody>
          <a:bodyPr wrap="square" rtlCol="0" anchor="ctr"/>
          <a:lstStyle/>
          <a:p>
            <a:pPr indent="0" marL="0">
              <a:buNone/>
            </a:pPr>
            <a:r>
              <a:rPr lang="en-US" sz="1500" b="1" dirty="0">
                <a:solidFill>
                  <a:srgbClr val="24402A"/>
                </a:solidFill>
                <a:latin typeface="Georgia" pitchFamily="34" charset="0"/>
                <a:ea typeface="Georgia" pitchFamily="34" charset="-122"/>
                <a:cs typeface="Georgia" pitchFamily="34" charset="-120"/>
              </a:rPr>
              <a:t>Residents &amp; households</a:t>
            </a:r>
            <a:endParaRPr lang="en-US" sz="1500" dirty="0"/>
          </a:p>
        </p:txBody>
      </p:sp>
      <p:sp>
        <p:nvSpPr>
          <p:cNvPr id="6" name="Text 4"/>
          <p:cNvSpPr txBox="1"/>
          <p:nvPr/>
        </p:nvSpPr>
        <p:spPr>
          <a:xfrm>
            <a:off x="777240" y="2852928"/>
            <a:ext cx="4663440" cy="777240"/>
          </a:xfrm>
          <a:prstGeom prst="rect">
            <a:avLst/>
          </a:prstGeom>
          <a:noFill/>
          <a:ln/>
        </p:spPr>
        <p:txBody>
          <a:bodyPr wrap="square" rtlCol="0" anchor="ctr"/>
          <a:lstStyle/>
          <a:p>
            <a:pPr indent="0" marL="0">
              <a:lnSpc>
                <a:spcPct val="125000"/>
              </a:lnSpc>
              <a:buNone/>
            </a:pPr>
            <a:r>
              <a:rPr lang="en-US" sz="1200" dirty="0">
                <a:solidFill>
                  <a:srgbClr val="4C5A45"/>
                </a:solidFill>
                <a:latin typeface="Calibri" pitchFamily="34" charset="0"/>
                <a:ea typeface="Calibri" pitchFamily="34" charset="-122"/>
                <a:cs typeface="Calibri" pitchFamily="34" charset="-120"/>
              </a:rPr>
              <a:t>Need quick, trustworthy answers on waste segregation and recycling without reading a municipal PDF.</a:t>
            </a:r>
            <a:endParaRPr lang="en-US" sz="1200" dirty="0"/>
          </a:p>
        </p:txBody>
      </p:sp>
      <p:sp>
        <p:nvSpPr>
          <p:cNvPr id="7" name="Shape 5"/>
          <p:cNvSpPr/>
          <p:nvPr/>
        </p:nvSpPr>
        <p:spPr>
          <a:xfrm>
            <a:off x="5989320" y="2286000"/>
            <a:ext cx="5120640" cy="1417320"/>
          </a:xfrm>
          <a:prstGeom prst="rect">
            <a:avLst/>
          </a:prstGeom>
          <a:solidFill>
            <a:srgbClr val="F1F2E8"/>
          </a:solidFill>
          <a:ln w="12700">
            <a:solidFill>
              <a:srgbClr val="D8DBC9"/>
            </a:solidFill>
            <a:prstDash val="solid"/>
          </a:ln>
        </p:spPr>
      </p:sp>
      <p:sp>
        <p:nvSpPr>
          <p:cNvPr id="8" name="Text 6"/>
          <p:cNvSpPr txBox="1"/>
          <p:nvPr/>
        </p:nvSpPr>
        <p:spPr>
          <a:xfrm>
            <a:off x="6217920" y="2450592"/>
            <a:ext cx="4663440" cy="365760"/>
          </a:xfrm>
          <a:prstGeom prst="rect">
            <a:avLst/>
          </a:prstGeom>
          <a:noFill/>
          <a:ln/>
        </p:spPr>
        <p:txBody>
          <a:bodyPr wrap="square" rtlCol="0" anchor="ctr"/>
          <a:lstStyle/>
          <a:p>
            <a:pPr indent="0" marL="0">
              <a:buNone/>
            </a:pPr>
            <a:r>
              <a:rPr lang="en-US" sz="1500" b="1" dirty="0">
                <a:solidFill>
                  <a:srgbClr val="24402A"/>
                </a:solidFill>
                <a:latin typeface="Georgia" pitchFamily="34" charset="0"/>
                <a:ea typeface="Georgia" pitchFamily="34" charset="-122"/>
                <a:cs typeface="Georgia" pitchFamily="34" charset="-120"/>
              </a:rPr>
              <a:t>Students &amp; campuses</a:t>
            </a:r>
            <a:endParaRPr lang="en-US" sz="1500" dirty="0"/>
          </a:p>
        </p:txBody>
      </p:sp>
      <p:sp>
        <p:nvSpPr>
          <p:cNvPr id="9" name="Text 7"/>
          <p:cNvSpPr txBox="1"/>
          <p:nvPr/>
        </p:nvSpPr>
        <p:spPr>
          <a:xfrm>
            <a:off x="6217920" y="2852928"/>
            <a:ext cx="4663440" cy="777240"/>
          </a:xfrm>
          <a:prstGeom prst="rect">
            <a:avLst/>
          </a:prstGeom>
          <a:noFill/>
          <a:ln/>
        </p:spPr>
        <p:txBody>
          <a:bodyPr wrap="square" rtlCol="0" anchor="ctr"/>
          <a:lstStyle/>
          <a:p>
            <a:pPr indent="0" marL="0">
              <a:lnSpc>
                <a:spcPct val="125000"/>
              </a:lnSpc>
              <a:buNone/>
            </a:pPr>
            <a:r>
              <a:rPr lang="en-US" sz="1200" dirty="0">
                <a:solidFill>
                  <a:srgbClr val="4C5A45"/>
                </a:solidFill>
                <a:latin typeface="Calibri" pitchFamily="34" charset="0"/>
                <a:ea typeface="Calibri" pitchFamily="34" charset="-122"/>
                <a:cs typeface="Calibri" pitchFamily="34" charset="-120"/>
              </a:rPr>
              <a:t>Can adopt the assistant for hostel/campus waste and sustainability awareness drives.</a:t>
            </a:r>
            <a:endParaRPr lang="en-US" sz="1200" dirty="0"/>
          </a:p>
        </p:txBody>
      </p:sp>
      <p:sp>
        <p:nvSpPr>
          <p:cNvPr id="10" name="Shape 8"/>
          <p:cNvSpPr/>
          <p:nvPr/>
        </p:nvSpPr>
        <p:spPr>
          <a:xfrm>
            <a:off x="548640" y="3977640"/>
            <a:ext cx="5120640" cy="1417320"/>
          </a:xfrm>
          <a:prstGeom prst="rect">
            <a:avLst/>
          </a:prstGeom>
          <a:solidFill>
            <a:srgbClr val="F1F2E8"/>
          </a:solidFill>
          <a:ln w="12700">
            <a:solidFill>
              <a:srgbClr val="D8DBC9"/>
            </a:solidFill>
            <a:prstDash val="solid"/>
          </a:ln>
        </p:spPr>
      </p:sp>
      <p:sp>
        <p:nvSpPr>
          <p:cNvPr id="11" name="Text 9"/>
          <p:cNvSpPr txBox="1"/>
          <p:nvPr/>
        </p:nvSpPr>
        <p:spPr>
          <a:xfrm>
            <a:off x="777240" y="4142232"/>
            <a:ext cx="4663440" cy="365760"/>
          </a:xfrm>
          <a:prstGeom prst="rect">
            <a:avLst/>
          </a:prstGeom>
          <a:noFill/>
          <a:ln/>
        </p:spPr>
        <p:txBody>
          <a:bodyPr wrap="square" rtlCol="0" anchor="ctr"/>
          <a:lstStyle/>
          <a:p>
            <a:pPr indent="0" marL="0">
              <a:buNone/>
            </a:pPr>
            <a:r>
              <a:rPr lang="en-US" sz="1500" b="1" dirty="0">
                <a:solidFill>
                  <a:srgbClr val="24402A"/>
                </a:solidFill>
                <a:latin typeface="Georgia" pitchFamily="34" charset="0"/>
                <a:ea typeface="Georgia" pitchFamily="34" charset="-122"/>
                <a:cs typeface="Georgia" pitchFamily="34" charset="-120"/>
              </a:rPr>
              <a:t>Sensitive health groups</a:t>
            </a:r>
            <a:endParaRPr lang="en-US" sz="1500" dirty="0"/>
          </a:p>
        </p:txBody>
      </p:sp>
      <p:sp>
        <p:nvSpPr>
          <p:cNvPr id="12" name="Text 10"/>
          <p:cNvSpPr txBox="1"/>
          <p:nvPr/>
        </p:nvSpPr>
        <p:spPr>
          <a:xfrm>
            <a:off x="777240" y="4544568"/>
            <a:ext cx="4663440" cy="777240"/>
          </a:xfrm>
          <a:prstGeom prst="rect">
            <a:avLst/>
          </a:prstGeom>
          <a:noFill/>
          <a:ln/>
        </p:spPr>
        <p:txBody>
          <a:bodyPr wrap="square" rtlCol="0" anchor="ctr"/>
          <a:lstStyle/>
          <a:p>
            <a:pPr indent="0" marL="0">
              <a:lnSpc>
                <a:spcPct val="125000"/>
              </a:lnSpc>
              <a:buNone/>
            </a:pPr>
            <a:r>
              <a:rPr lang="en-US" sz="1200" dirty="0">
                <a:solidFill>
                  <a:srgbClr val="4C5A45"/>
                </a:solidFill>
                <a:latin typeface="Calibri" pitchFamily="34" charset="0"/>
                <a:ea typeface="Calibri" pitchFamily="34" charset="-122"/>
                <a:cs typeface="Calibri" pitchFamily="34" charset="-120"/>
              </a:rPr>
              <a:t>Elderly, children, and those with respiratory conditions who need clear AQI-based activity guidance.</a:t>
            </a:r>
            <a:endParaRPr lang="en-US" sz="1200" dirty="0"/>
          </a:p>
        </p:txBody>
      </p:sp>
      <p:sp>
        <p:nvSpPr>
          <p:cNvPr id="13" name="Shape 11"/>
          <p:cNvSpPr/>
          <p:nvPr/>
        </p:nvSpPr>
        <p:spPr>
          <a:xfrm>
            <a:off x="5989320" y="3977640"/>
            <a:ext cx="5120640" cy="1417320"/>
          </a:xfrm>
          <a:prstGeom prst="rect">
            <a:avLst/>
          </a:prstGeom>
          <a:solidFill>
            <a:srgbClr val="F1F2E8"/>
          </a:solidFill>
          <a:ln w="12700">
            <a:solidFill>
              <a:srgbClr val="D8DBC9"/>
            </a:solidFill>
            <a:prstDash val="solid"/>
          </a:ln>
        </p:spPr>
      </p:sp>
      <p:sp>
        <p:nvSpPr>
          <p:cNvPr id="14" name="Text 12"/>
          <p:cNvSpPr txBox="1"/>
          <p:nvPr/>
        </p:nvSpPr>
        <p:spPr>
          <a:xfrm>
            <a:off x="6217920" y="4142232"/>
            <a:ext cx="4663440" cy="365760"/>
          </a:xfrm>
          <a:prstGeom prst="rect">
            <a:avLst/>
          </a:prstGeom>
          <a:noFill/>
          <a:ln/>
        </p:spPr>
        <p:txBody>
          <a:bodyPr wrap="square" rtlCol="0" anchor="ctr"/>
          <a:lstStyle/>
          <a:p>
            <a:pPr indent="0" marL="0">
              <a:buNone/>
            </a:pPr>
            <a:r>
              <a:rPr lang="en-US" sz="1500" b="1" dirty="0">
                <a:solidFill>
                  <a:srgbClr val="24402A"/>
                </a:solidFill>
                <a:latin typeface="Georgia" pitchFamily="34" charset="0"/>
                <a:ea typeface="Georgia" pitchFamily="34" charset="-122"/>
                <a:cs typeface="Georgia" pitchFamily="34" charset="-120"/>
              </a:rPr>
              <a:t>Local governance bodies</a:t>
            </a:r>
            <a:endParaRPr lang="en-US" sz="1500" dirty="0"/>
          </a:p>
        </p:txBody>
      </p:sp>
      <p:sp>
        <p:nvSpPr>
          <p:cNvPr id="15" name="Text 13"/>
          <p:cNvSpPr txBox="1"/>
          <p:nvPr/>
        </p:nvSpPr>
        <p:spPr>
          <a:xfrm>
            <a:off x="6217920" y="4544568"/>
            <a:ext cx="4663440" cy="777240"/>
          </a:xfrm>
          <a:prstGeom prst="rect">
            <a:avLst/>
          </a:prstGeom>
          <a:noFill/>
          <a:ln/>
        </p:spPr>
        <p:txBody>
          <a:bodyPr wrap="square" rtlCol="0" anchor="ctr"/>
          <a:lstStyle/>
          <a:p>
            <a:pPr indent="0" marL="0">
              <a:lnSpc>
                <a:spcPct val="125000"/>
              </a:lnSpc>
              <a:buNone/>
            </a:pPr>
            <a:r>
              <a:rPr lang="en-US" sz="1200" dirty="0">
                <a:solidFill>
                  <a:srgbClr val="4C5A45"/>
                </a:solidFill>
                <a:latin typeface="Calibri" pitchFamily="34" charset="0"/>
                <a:ea typeface="Calibri" pitchFamily="34" charset="-122"/>
                <a:cs typeface="Calibri" pitchFamily="34" charset="-120"/>
              </a:rPr>
              <a:t>Can plug in their own official documents to give citizens a searchable, always-available interface.</a:t>
            </a:r>
            <a:endParaRPr lang="en-US" sz="1200" dirty="0"/>
          </a:p>
        </p:txBody>
      </p:sp>
      <p:sp>
        <p:nvSpPr>
          <p:cNvPr id="16" name="Text 14"/>
          <p:cNvSpPr txBox="1"/>
          <p:nvPr/>
        </p:nvSpPr>
        <p:spPr>
          <a:xfrm>
            <a:off x="11521440" y="6446520"/>
            <a:ext cx="548640" cy="274320"/>
          </a:xfrm>
          <a:prstGeom prst="rect">
            <a:avLst/>
          </a:prstGeom>
          <a:noFill/>
          <a:ln/>
        </p:spPr>
        <p:txBody>
          <a:bodyPr wrap="square" rtlCol="0" anchor="ctr"/>
          <a:lstStyle/>
          <a:p>
            <a:pPr algn="r" indent="0" marL="0">
              <a:buNone/>
            </a:pPr>
            <a:r>
              <a:rPr lang="en-US" sz="1000" dirty="0">
                <a:solidFill>
                  <a:srgbClr val="4C5A45"/>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2E8"/>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74320"/>
          </a:xfrm>
          <a:prstGeom prst="rect">
            <a:avLst/>
          </a:prstGeom>
          <a:noFill/>
          <a:ln/>
        </p:spPr>
        <p:txBody>
          <a:bodyPr wrap="square" rtlCol="0" anchor="ctr"/>
          <a:lstStyle/>
          <a:p>
            <a:pPr indent="0" marL="0">
              <a:buNone/>
            </a:pPr>
            <a:r>
              <a:rPr lang="en-US" sz="1100" b="1" spc="100" kern="0" dirty="0">
                <a:solidFill>
                  <a:srgbClr val="4C5A45"/>
                </a:solidFill>
                <a:latin typeface="Calibri" pitchFamily="34" charset="0"/>
                <a:ea typeface="Calibri" pitchFamily="34" charset="-122"/>
                <a:cs typeface="Calibri" pitchFamily="34" charset="-120"/>
              </a:rPr>
              <a:t>RESPONSIBLE AI CONSIDERATIONS</a:t>
            </a:r>
            <a:endParaRPr lang="en-US" sz="1100" dirty="0"/>
          </a:p>
        </p:txBody>
      </p:sp>
      <p:sp>
        <p:nvSpPr>
          <p:cNvPr id="3" name="Text 1"/>
          <p:cNvSpPr txBox="1"/>
          <p:nvPr/>
        </p:nvSpPr>
        <p:spPr>
          <a:xfrm>
            <a:off x="548640" y="777240"/>
            <a:ext cx="8229600" cy="1188720"/>
          </a:xfrm>
          <a:prstGeom prst="rect">
            <a:avLst/>
          </a:prstGeom>
          <a:noFill/>
          <a:ln/>
        </p:spPr>
        <p:txBody>
          <a:bodyPr wrap="square" rtlCol="0" anchor="ctr"/>
          <a:lstStyle/>
          <a:p>
            <a:pPr indent="0" marL="0">
              <a:buNone/>
            </a:pPr>
            <a:r>
              <a:rPr lang="en-US" sz="3000" dirty="0">
                <a:solidFill>
                  <a:srgbClr val="24402A"/>
                </a:solidFill>
                <a:latin typeface="Georgia" pitchFamily="34" charset="0"/>
                <a:ea typeface="Georgia" pitchFamily="34" charset="-122"/>
                <a:cs typeface="Georgia" pitchFamily="34" charset="-120"/>
              </a:rPr>
              <a:t>Designed to refuse rather than</a:t>
            </a:r>
            <a:endParaRPr lang="en-US" sz="3000" dirty="0"/>
          </a:p>
          <a:p>
            <a:pPr indent="0" marL="0">
              <a:buNone/>
            </a:pPr>
            <a:r>
              <a:rPr lang="en-US" sz="3000" dirty="0">
                <a:solidFill>
                  <a:srgbClr val="24402A"/>
                </a:solidFill>
                <a:latin typeface="Georgia" pitchFamily="34" charset="0"/>
                <a:ea typeface="Georgia" pitchFamily="34" charset="-122"/>
                <a:cs typeface="Georgia" pitchFamily="34" charset="-120"/>
              </a:rPr>
              <a:t>guess</a:t>
            </a:r>
            <a:endParaRPr lang="en-US" sz="3000" dirty="0"/>
          </a:p>
        </p:txBody>
      </p:sp>
      <p:sp>
        <p:nvSpPr>
          <p:cNvPr id="4" name="Shape 2"/>
          <p:cNvSpPr/>
          <p:nvPr/>
        </p:nvSpPr>
        <p:spPr>
          <a:xfrm>
            <a:off x="548640" y="2286000"/>
            <a:ext cx="5120640" cy="1737360"/>
          </a:xfrm>
          <a:prstGeom prst="rect">
            <a:avLst/>
          </a:prstGeom>
          <a:solidFill>
            <a:srgbClr val="FFFFFF"/>
          </a:solidFill>
          <a:ln w="12700">
            <a:solidFill>
              <a:srgbClr val="D8DBC9"/>
            </a:solidFill>
            <a:prstDash val="solid"/>
          </a:ln>
        </p:spPr>
      </p:sp>
      <p:sp>
        <p:nvSpPr>
          <p:cNvPr id="5" name="Text 3"/>
          <p:cNvSpPr txBox="1"/>
          <p:nvPr/>
        </p:nvSpPr>
        <p:spPr>
          <a:xfrm>
            <a:off x="804672" y="2468880"/>
            <a:ext cx="4608576" cy="365760"/>
          </a:xfrm>
          <a:prstGeom prst="rect">
            <a:avLst/>
          </a:prstGeom>
          <a:noFill/>
          <a:ln/>
        </p:spPr>
        <p:txBody>
          <a:bodyPr wrap="square" rtlCol="0" anchor="ctr"/>
          <a:lstStyle/>
          <a:p>
            <a:pPr indent="0" marL="0">
              <a:buNone/>
            </a:pPr>
            <a:r>
              <a:rPr lang="en-US" sz="1600" b="1" dirty="0">
                <a:solidFill>
                  <a:srgbClr val="35563C"/>
                </a:solidFill>
                <a:latin typeface="Georgia" pitchFamily="34" charset="0"/>
                <a:ea typeface="Georgia" pitchFamily="34" charset="-122"/>
                <a:cs typeface="Georgia" pitchFamily="34" charset="-120"/>
              </a:rPr>
              <a:t>Fairness</a:t>
            </a:r>
            <a:endParaRPr lang="en-US" sz="1600" dirty="0"/>
          </a:p>
        </p:txBody>
      </p:sp>
      <p:sp>
        <p:nvSpPr>
          <p:cNvPr id="6" name="Text 4"/>
          <p:cNvSpPr txBox="1"/>
          <p:nvPr/>
        </p:nvSpPr>
        <p:spPr>
          <a:xfrm>
            <a:off x="804672" y="2907792"/>
            <a:ext cx="4608576" cy="1005840"/>
          </a:xfrm>
          <a:prstGeom prst="rect">
            <a:avLst/>
          </a:prstGeom>
          <a:noFill/>
          <a:ln/>
        </p:spPr>
        <p:txBody>
          <a:bodyPr wrap="square" rtlCol="0" anchor="ctr"/>
          <a:lstStyle/>
          <a:p>
            <a:pPr indent="0" marL="0">
              <a:lnSpc>
                <a:spcPct val="130000"/>
              </a:lnSpc>
              <a:buNone/>
            </a:pPr>
            <a:r>
              <a:rPr lang="en-US" sz="1200" dirty="0">
                <a:solidFill>
                  <a:srgbClr val="4C5A45"/>
                </a:solidFill>
                <a:latin typeface="Calibri" pitchFamily="34" charset="0"/>
                <a:ea typeface="Calibri" pitchFamily="34" charset="-122"/>
                <a:cs typeface="Calibri" pitchFamily="34" charset="-120"/>
              </a:rPr>
              <a:t>Knowledge base sourced from official government/municipal documents rather than opinion content, to avoid skewed or region-biased advice.</a:t>
            </a:r>
            <a:endParaRPr lang="en-US" sz="1200" dirty="0"/>
          </a:p>
        </p:txBody>
      </p:sp>
      <p:sp>
        <p:nvSpPr>
          <p:cNvPr id="7" name="Shape 5"/>
          <p:cNvSpPr/>
          <p:nvPr/>
        </p:nvSpPr>
        <p:spPr>
          <a:xfrm>
            <a:off x="5989320" y="2286000"/>
            <a:ext cx="5120640" cy="1737360"/>
          </a:xfrm>
          <a:prstGeom prst="rect">
            <a:avLst/>
          </a:prstGeom>
          <a:solidFill>
            <a:srgbClr val="FFFFFF"/>
          </a:solidFill>
          <a:ln w="12700">
            <a:solidFill>
              <a:srgbClr val="D8DBC9"/>
            </a:solidFill>
            <a:prstDash val="solid"/>
          </a:ln>
        </p:spPr>
      </p:sp>
      <p:sp>
        <p:nvSpPr>
          <p:cNvPr id="8" name="Text 6"/>
          <p:cNvSpPr txBox="1"/>
          <p:nvPr/>
        </p:nvSpPr>
        <p:spPr>
          <a:xfrm>
            <a:off x="6245352" y="2468880"/>
            <a:ext cx="4608576" cy="365760"/>
          </a:xfrm>
          <a:prstGeom prst="rect">
            <a:avLst/>
          </a:prstGeom>
          <a:noFill/>
          <a:ln/>
        </p:spPr>
        <p:txBody>
          <a:bodyPr wrap="square" rtlCol="0" anchor="ctr"/>
          <a:lstStyle/>
          <a:p>
            <a:pPr indent="0" marL="0">
              <a:buNone/>
            </a:pPr>
            <a:r>
              <a:rPr lang="en-US" sz="1600" b="1" dirty="0">
                <a:solidFill>
                  <a:srgbClr val="35563C"/>
                </a:solidFill>
                <a:latin typeface="Georgia" pitchFamily="34" charset="0"/>
                <a:ea typeface="Georgia" pitchFamily="34" charset="-122"/>
                <a:cs typeface="Georgia" pitchFamily="34" charset="-120"/>
              </a:rPr>
              <a:t>Transparency</a:t>
            </a:r>
            <a:endParaRPr lang="en-US" sz="1600" dirty="0"/>
          </a:p>
        </p:txBody>
      </p:sp>
      <p:sp>
        <p:nvSpPr>
          <p:cNvPr id="9" name="Text 7"/>
          <p:cNvSpPr txBox="1"/>
          <p:nvPr/>
        </p:nvSpPr>
        <p:spPr>
          <a:xfrm>
            <a:off x="6245352" y="2907792"/>
            <a:ext cx="4608576" cy="1005840"/>
          </a:xfrm>
          <a:prstGeom prst="rect">
            <a:avLst/>
          </a:prstGeom>
          <a:noFill/>
          <a:ln/>
        </p:spPr>
        <p:txBody>
          <a:bodyPr wrap="square" rtlCol="0" anchor="ctr"/>
          <a:lstStyle/>
          <a:p>
            <a:pPr indent="0" marL="0">
              <a:lnSpc>
                <a:spcPct val="130000"/>
              </a:lnSpc>
              <a:buNone/>
            </a:pPr>
            <a:r>
              <a:rPr lang="en-US" sz="1200" dirty="0">
                <a:solidFill>
                  <a:srgbClr val="4C5A45"/>
                </a:solidFill>
                <a:latin typeface="Calibri" pitchFamily="34" charset="0"/>
                <a:ea typeface="Calibri" pitchFamily="34" charset="-122"/>
                <a:cs typeface="Calibri" pitchFamily="34" charset="-120"/>
              </a:rPr>
              <a:t>Every answer cites the specific source document it drew from, so a user can verify the guidance directly.</a:t>
            </a:r>
            <a:endParaRPr lang="en-US" sz="1200" dirty="0"/>
          </a:p>
        </p:txBody>
      </p:sp>
      <p:sp>
        <p:nvSpPr>
          <p:cNvPr id="10" name="Shape 8"/>
          <p:cNvSpPr/>
          <p:nvPr/>
        </p:nvSpPr>
        <p:spPr>
          <a:xfrm>
            <a:off x="548640" y="4251960"/>
            <a:ext cx="5120640" cy="1737360"/>
          </a:xfrm>
          <a:prstGeom prst="rect">
            <a:avLst/>
          </a:prstGeom>
          <a:solidFill>
            <a:srgbClr val="FFFFFF"/>
          </a:solidFill>
          <a:ln w="12700">
            <a:solidFill>
              <a:srgbClr val="D8DBC9"/>
            </a:solidFill>
            <a:prstDash val="solid"/>
          </a:ln>
        </p:spPr>
      </p:sp>
      <p:sp>
        <p:nvSpPr>
          <p:cNvPr id="11" name="Text 9"/>
          <p:cNvSpPr txBox="1"/>
          <p:nvPr/>
        </p:nvSpPr>
        <p:spPr>
          <a:xfrm>
            <a:off x="804672" y="4434840"/>
            <a:ext cx="4608576" cy="365760"/>
          </a:xfrm>
          <a:prstGeom prst="rect">
            <a:avLst/>
          </a:prstGeom>
          <a:noFill/>
          <a:ln/>
        </p:spPr>
        <p:txBody>
          <a:bodyPr wrap="square" rtlCol="0" anchor="ctr"/>
          <a:lstStyle/>
          <a:p>
            <a:pPr indent="0" marL="0">
              <a:buNone/>
            </a:pPr>
            <a:r>
              <a:rPr lang="en-US" sz="1600" b="1" dirty="0">
                <a:solidFill>
                  <a:srgbClr val="35563C"/>
                </a:solidFill>
                <a:latin typeface="Georgia" pitchFamily="34" charset="0"/>
                <a:ea typeface="Georgia" pitchFamily="34" charset="-122"/>
                <a:cs typeface="Georgia" pitchFamily="34" charset="-120"/>
              </a:rPr>
              <a:t>Ethics</a:t>
            </a:r>
            <a:endParaRPr lang="en-US" sz="1600" dirty="0"/>
          </a:p>
        </p:txBody>
      </p:sp>
      <p:sp>
        <p:nvSpPr>
          <p:cNvPr id="12" name="Text 10"/>
          <p:cNvSpPr txBox="1"/>
          <p:nvPr/>
        </p:nvSpPr>
        <p:spPr>
          <a:xfrm>
            <a:off x="804672" y="4873752"/>
            <a:ext cx="4608576" cy="1005840"/>
          </a:xfrm>
          <a:prstGeom prst="rect">
            <a:avLst/>
          </a:prstGeom>
          <a:noFill/>
          <a:ln/>
        </p:spPr>
        <p:txBody>
          <a:bodyPr wrap="square" rtlCol="0" anchor="ctr"/>
          <a:lstStyle/>
          <a:p>
            <a:pPr indent="0" marL="0">
              <a:lnSpc>
                <a:spcPct val="130000"/>
              </a:lnSpc>
              <a:buNone/>
            </a:pPr>
            <a:r>
              <a:rPr lang="en-US" sz="1200" dirty="0">
                <a:solidFill>
                  <a:srgbClr val="4C5A45"/>
                </a:solidFill>
                <a:latin typeface="Calibri" pitchFamily="34" charset="0"/>
                <a:ea typeface="Calibri" pitchFamily="34" charset="-122"/>
                <a:cs typeface="Calibri" pitchFamily="34" charset="-120"/>
              </a:rPr>
              <a:t>The assistant explicitly declines to answer when a question falls outside its knowledge base, instead of generating a plausible-sounding guess.</a:t>
            </a:r>
            <a:endParaRPr lang="en-US" sz="1200" dirty="0"/>
          </a:p>
        </p:txBody>
      </p:sp>
      <p:sp>
        <p:nvSpPr>
          <p:cNvPr id="13" name="Shape 11"/>
          <p:cNvSpPr/>
          <p:nvPr/>
        </p:nvSpPr>
        <p:spPr>
          <a:xfrm>
            <a:off x="5989320" y="4251960"/>
            <a:ext cx="5120640" cy="1737360"/>
          </a:xfrm>
          <a:prstGeom prst="rect">
            <a:avLst/>
          </a:prstGeom>
          <a:solidFill>
            <a:srgbClr val="FFFFFF"/>
          </a:solidFill>
          <a:ln w="12700">
            <a:solidFill>
              <a:srgbClr val="D8DBC9"/>
            </a:solidFill>
            <a:prstDash val="solid"/>
          </a:ln>
        </p:spPr>
      </p:sp>
      <p:sp>
        <p:nvSpPr>
          <p:cNvPr id="14" name="Text 12"/>
          <p:cNvSpPr txBox="1"/>
          <p:nvPr/>
        </p:nvSpPr>
        <p:spPr>
          <a:xfrm>
            <a:off x="6245352" y="4434840"/>
            <a:ext cx="4608576" cy="365760"/>
          </a:xfrm>
          <a:prstGeom prst="rect">
            <a:avLst/>
          </a:prstGeom>
          <a:noFill/>
          <a:ln/>
        </p:spPr>
        <p:txBody>
          <a:bodyPr wrap="square" rtlCol="0" anchor="ctr"/>
          <a:lstStyle/>
          <a:p>
            <a:pPr indent="0" marL="0">
              <a:buNone/>
            </a:pPr>
            <a:r>
              <a:rPr lang="en-US" sz="1600" b="1" dirty="0">
                <a:solidFill>
                  <a:srgbClr val="35563C"/>
                </a:solidFill>
                <a:latin typeface="Georgia" pitchFamily="34" charset="0"/>
                <a:ea typeface="Georgia" pitchFamily="34" charset="-122"/>
                <a:cs typeface="Georgia" pitchFamily="34" charset="-120"/>
              </a:rPr>
              <a:t>Privacy</a:t>
            </a:r>
            <a:endParaRPr lang="en-US" sz="1600" dirty="0"/>
          </a:p>
        </p:txBody>
      </p:sp>
      <p:sp>
        <p:nvSpPr>
          <p:cNvPr id="15" name="Text 13"/>
          <p:cNvSpPr txBox="1"/>
          <p:nvPr/>
        </p:nvSpPr>
        <p:spPr>
          <a:xfrm>
            <a:off x="6245352" y="4873752"/>
            <a:ext cx="4608576" cy="1005840"/>
          </a:xfrm>
          <a:prstGeom prst="rect">
            <a:avLst/>
          </a:prstGeom>
          <a:noFill/>
          <a:ln/>
        </p:spPr>
        <p:txBody>
          <a:bodyPr wrap="square" rtlCol="0" anchor="ctr"/>
          <a:lstStyle/>
          <a:p>
            <a:pPr indent="0" marL="0">
              <a:lnSpc>
                <a:spcPct val="130000"/>
              </a:lnSpc>
              <a:buNone/>
            </a:pPr>
            <a:r>
              <a:rPr lang="en-US" sz="1200" dirty="0">
                <a:solidFill>
                  <a:srgbClr val="4C5A45"/>
                </a:solidFill>
                <a:latin typeface="Calibri" pitchFamily="34" charset="0"/>
                <a:ea typeface="Calibri" pitchFamily="34" charset="-122"/>
                <a:cs typeface="Calibri" pitchFamily="34" charset="-120"/>
              </a:rPr>
              <a:t>No personal data is collected or required to use the assistant; queries are not linked to user identity.</a:t>
            </a:r>
            <a:endParaRPr lang="en-US" sz="1200" dirty="0"/>
          </a:p>
        </p:txBody>
      </p:sp>
      <p:sp>
        <p:nvSpPr>
          <p:cNvPr id="16" name="Text 14"/>
          <p:cNvSpPr txBox="1"/>
          <p:nvPr/>
        </p:nvSpPr>
        <p:spPr>
          <a:xfrm>
            <a:off x="11521440" y="6446520"/>
            <a:ext cx="548640" cy="274320"/>
          </a:xfrm>
          <a:prstGeom prst="rect">
            <a:avLst/>
          </a:prstGeom>
          <a:noFill/>
          <a:ln/>
        </p:spPr>
        <p:txBody>
          <a:bodyPr wrap="square" rtlCol="0" anchor="ctr"/>
          <a:lstStyle/>
          <a:p>
            <a:pPr algn="r" indent="0" marL="0">
              <a:buNone/>
            </a:pPr>
            <a:r>
              <a:rPr lang="en-US" sz="1000" dirty="0">
                <a:solidFill>
                  <a:srgbClr val="4C5A45"/>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74320"/>
          </a:xfrm>
          <a:prstGeom prst="rect">
            <a:avLst/>
          </a:prstGeom>
          <a:noFill/>
          <a:ln/>
        </p:spPr>
        <p:txBody>
          <a:bodyPr wrap="square" rtlCol="0" anchor="ctr"/>
          <a:lstStyle/>
          <a:p>
            <a:pPr indent="0" marL="0">
              <a:buNone/>
            </a:pPr>
            <a:r>
              <a:rPr lang="en-US" sz="1100" b="1" spc="100" kern="0" dirty="0">
                <a:solidFill>
                  <a:srgbClr val="4C5A45"/>
                </a:solidFill>
                <a:latin typeface="Calibri" pitchFamily="34" charset="0"/>
                <a:ea typeface="Calibri" pitchFamily="34" charset="-122"/>
                <a:cs typeface="Calibri" pitchFamily="34" charset="-120"/>
              </a:rPr>
              <a:t>EXPECTED IMPACT</a:t>
            </a:r>
            <a:endParaRPr lang="en-US" sz="1100" dirty="0"/>
          </a:p>
        </p:txBody>
      </p:sp>
      <p:sp>
        <p:nvSpPr>
          <p:cNvPr id="3" name="Text 1"/>
          <p:cNvSpPr txBox="1"/>
          <p:nvPr/>
        </p:nvSpPr>
        <p:spPr>
          <a:xfrm>
            <a:off x="548640" y="777240"/>
            <a:ext cx="9144000" cy="822960"/>
          </a:xfrm>
          <a:prstGeom prst="rect">
            <a:avLst/>
          </a:prstGeom>
          <a:noFill/>
          <a:ln/>
        </p:spPr>
        <p:txBody>
          <a:bodyPr wrap="square" rtlCol="0" anchor="ctr"/>
          <a:lstStyle/>
          <a:p>
            <a:pPr indent="0" marL="0">
              <a:buNone/>
            </a:pPr>
            <a:r>
              <a:rPr lang="en-US" sz="3200" dirty="0">
                <a:solidFill>
                  <a:srgbClr val="24402A"/>
                </a:solidFill>
                <a:latin typeface="Georgia" pitchFamily="34" charset="0"/>
                <a:ea typeface="Georgia" pitchFamily="34" charset="-122"/>
                <a:cs typeface="Georgia" pitchFamily="34" charset="-120"/>
              </a:rPr>
              <a:t>What changes if this is deployed</a:t>
            </a:r>
            <a:endParaRPr lang="en-US" sz="3200" dirty="0"/>
          </a:p>
        </p:txBody>
      </p:sp>
      <p:sp>
        <p:nvSpPr>
          <p:cNvPr id="4" name="Shape 2"/>
          <p:cNvSpPr/>
          <p:nvPr/>
        </p:nvSpPr>
        <p:spPr>
          <a:xfrm>
            <a:off x="548640" y="1920240"/>
            <a:ext cx="10424160" cy="841248"/>
          </a:xfrm>
          <a:prstGeom prst="rect">
            <a:avLst/>
          </a:prstGeom>
          <a:solidFill>
            <a:srgbClr val="F1F2E8"/>
          </a:solidFill>
          <a:ln w="12700">
            <a:solidFill>
              <a:srgbClr val="D8DBC9"/>
            </a:solidFill>
            <a:prstDash val="solid"/>
          </a:ln>
        </p:spPr>
      </p:sp>
      <p:sp>
        <p:nvSpPr>
          <p:cNvPr id="5" name="Text 3"/>
          <p:cNvSpPr txBox="1"/>
          <p:nvPr/>
        </p:nvSpPr>
        <p:spPr>
          <a:xfrm>
            <a:off x="822960" y="2029968"/>
            <a:ext cx="2377440" cy="621792"/>
          </a:xfrm>
          <a:prstGeom prst="rect">
            <a:avLst/>
          </a:prstGeom>
          <a:noFill/>
          <a:ln/>
        </p:spPr>
        <p:txBody>
          <a:bodyPr wrap="square" rtlCol="0" anchor="ctr"/>
          <a:lstStyle/>
          <a:p>
            <a:pPr indent="0" marL="0">
              <a:buNone/>
            </a:pPr>
            <a:r>
              <a:rPr lang="en-US" sz="1500" b="1" dirty="0">
                <a:solidFill>
                  <a:srgbClr val="24402A"/>
                </a:solidFill>
                <a:latin typeface="Georgia" pitchFamily="34" charset="0"/>
                <a:ea typeface="Georgia" pitchFamily="34" charset="-122"/>
                <a:cs typeface="Georgia" pitchFamily="34" charset="-120"/>
              </a:rPr>
              <a:t>Residents</a:t>
            </a:r>
            <a:endParaRPr lang="en-US" sz="1500" dirty="0"/>
          </a:p>
        </p:txBody>
      </p:sp>
      <p:sp>
        <p:nvSpPr>
          <p:cNvPr id="6" name="Text 4"/>
          <p:cNvSpPr txBox="1"/>
          <p:nvPr/>
        </p:nvSpPr>
        <p:spPr>
          <a:xfrm>
            <a:off x="3383280" y="2029968"/>
            <a:ext cx="7315200" cy="621792"/>
          </a:xfrm>
          <a:prstGeom prst="rect">
            <a:avLst/>
          </a:prstGeom>
          <a:noFill/>
          <a:ln/>
        </p:spPr>
        <p:txBody>
          <a:bodyPr wrap="square" rtlCol="0" anchor="ctr"/>
          <a:lstStyle/>
          <a:p>
            <a:pPr indent="0" marL="0">
              <a:lnSpc>
                <a:spcPct val="120000"/>
              </a:lnSpc>
              <a:buNone/>
            </a:pPr>
            <a:r>
              <a:rPr lang="en-US" sz="1300" dirty="0">
                <a:solidFill>
                  <a:srgbClr val="4C5A45"/>
                </a:solidFill>
                <a:latin typeface="Calibri" pitchFamily="34" charset="0"/>
                <a:ea typeface="Calibri" pitchFamily="34" charset="-122"/>
                <a:cs typeface="Calibri" pitchFamily="34" charset="-120"/>
              </a:rPr>
              <a:t>Get instant, source-backed answers instead of guessing or defaulting to "just throw it in the bin."</a:t>
            </a:r>
            <a:endParaRPr lang="en-US" sz="1300" dirty="0"/>
          </a:p>
        </p:txBody>
      </p:sp>
      <p:sp>
        <p:nvSpPr>
          <p:cNvPr id="7" name="Shape 5"/>
          <p:cNvSpPr/>
          <p:nvPr/>
        </p:nvSpPr>
        <p:spPr>
          <a:xfrm>
            <a:off x="548640" y="2889504"/>
            <a:ext cx="10424160" cy="841248"/>
          </a:xfrm>
          <a:prstGeom prst="rect">
            <a:avLst/>
          </a:prstGeom>
          <a:solidFill>
            <a:srgbClr val="F1F2E8"/>
          </a:solidFill>
          <a:ln w="12700">
            <a:solidFill>
              <a:srgbClr val="D8DBC9"/>
            </a:solidFill>
            <a:prstDash val="solid"/>
          </a:ln>
        </p:spPr>
      </p:sp>
      <p:sp>
        <p:nvSpPr>
          <p:cNvPr id="8" name="Text 6"/>
          <p:cNvSpPr txBox="1"/>
          <p:nvPr/>
        </p:nvSpPr>
        <p:spPr>
          <a:xfrm>
            <a:off x="822960" y="2999232"/>
            <a:ext cx="2377440" cy="621792"/>
          </a:xfrm>
          <a:prstGeom prst="rect">
            <a:avLst/>
          </a:prstGeom>
          <a:noFill/>
          <a:ln/>
        </p:spPr>
        <p:txBody>
          <a:bodyPr wrap="square" rtlCol="0" anchor="ctr"/>
          <a:lstStyle/>
          <a:p>
            <a:pPr indent="0" marL="0">
              <a:buNone/>
            </a:pPr>
            <a:r>
              <a:rPr lang="en-US" sz="1500" b="1" dirty="0">
                <a:solidFill>
                  <a:srgbClr val="24402A"/>
                </a:solidFill>
                <a:latin typeface="Georgia" pitchFamily="34" charset="0"/>
                <a:ea typeface="Georgia" pitchFamily="34" charset="-122"/>
                <a:cs typeface="Georgia" pitchFamily="34" charset="-120"/>
              </a:rPr>
              <a:t>Municipal bodies</a:t>
            </a:r>
            <a:endParaRPr lang="en-US" sz="1500" dirty="0"/>
          </a:p>
        </p:txBody>
      </p:sp>
      <p:sp>
        <p:nvSpPr>
          <p:cNvPr id="9" name="Text 7"/>
          <p:cNvSpPr txBox="1"/>
          <p:nvPr/>
        </p:nvSpPr>
        <p:spPr>
          <a:xfrm>
            <a:off x="3383280" y="2999232"/>
            <a:ext cx="7315200" cy="621792"/>
          </a:xfrm>
          <a:prstGeom prst="rect">
            <a:avLst/>
          </a:prstGeom>
          <a:noFill/>
          <a:ln/>
        </p:spPr>
        <p:txBody>
          <a:bodyPr wrap="square" rtlCol="0" anchor="ctr"/>
          <a:lstStyle/>
          <a:p>
            <a:pPr indent="0" marL="0">
              <a:lnSpc>
                <a:spcPct val="120000"/>
              </a:lnSpc>
              <a:buNone/>
            </a:pPr>
            <a:r>
              <a:rPr lang="en-US" sz="1300" dirty="0">
                <a:solidFill>
                  <a:srgbClr val="4C5A45"/>
                </a:solidFill>
                <a:latin typeface="Calibri" pitchFamily="34" charset="0"/>
                <a:ea typeface="Calibri" pitchFamily="34" charset="-122"/>
                <a:cs typeface="Calibri" pitchFamily="34" charset="-120"/>
              </a:rPr>
              <a:t>See fewer contaminated recycling loads as segregation guidance becomes easier to follow correctly.</a:t>
            </a:r>
            <a:endParaRPr lang="en-US" sz="1300" dirty="0"/>
          </a:p>
        </p:txBody>
      </p:sp>
      <p:sp>
        <p:nvSpPr>
          <p:cNvPr id="10" name="Shape 8"/>
          <p:cNvSpPr/>
          <p:nvPr/>
        </p:nvSpPr>
        <p:spPr>
          <a:xfrm>
            <a:off x="548640" y="3858768"/>
            <a:ext cx="10424160" cy="841248"/>
          </a:xfrm>
          <a:prstGeom prst="rect">
            <a:avLst/>
          </a:prstGeom>
          <a:solidFill>
            <a:srgbClr val="F1F2E8"/>
          </a:solidFill>
          <a:ln w="12700">
            <a:solidFill>
              <a:srgbClr val="D8DBC9"/>
            </a:solidFill>
            <a:prstDash val="solid"/>
          </a:ln>
        </p:spPr>
      </p:sp>
      <p:sp>
        <p:nvSpPr>
          <p:cNvPr id="11" name="Text 9"/>
          <p:cNvSpPr txBox="1"/>
          <p:nvPr/>
        </p:nvSpPr>
        <p:spPr>
          <a:xfrm>
            <a:off x="822960" y="3968496"/>
            <a:ext cx="2377440" cy="621792"/>
          </a:xfrm>
          <a:prstGeom prst="rect">
            <a:avLst/>
          </a:prstGeom>
          <a:noFill/>
          <a:ln/>
        </p:spPr>
        <p:txBody>
          <a:bodyPr wrap="square" rtlCol="0" anchor="ctr"/>
          <a:lstStyle/>
          <a:p>
            <a:pPr indent="0" marL="0">
              <a:buNone/>
            </a:pPr>
            <a:r>
              <a:rPr lang="en-US" sz="1500" b="1" dirty="0">
                <a:solidFill>
                  <a:srgbClr val="24402A"/>
                </a:solidFill>
                <a:latin typeface="Georgia" pitchFamily="34" charset="0"/>
                <a:ea typeface="Georgia" pitchFamily="34" charset="-122"/>
                <a:cs typeface="Georgia" pitchFamily="34" charset="-120"/>
              </a:rPr>
              <a:t>Public health</a:t>
            </a:r>
            <a:endParaRPr lang="en-US" sz="1500" dirty="0"/>
          </a:p>
        </p:txBody>
      </p:sp>
      <p:sp>
        <p:nvSpPr>
          <p:cNvPr id="12" name="Text 10"/>
          <p:cNvSpPr txBox="1"/>
          <p:nvPr/>
        </p:nvSpPr>
        <p:spPr>
          <a:xfrm>
            <a:off x="3383280" y="3968496"/>
            <a:ext cx="7315200" cy="621792"/>
          </a:xfrm>
          <a:prstGeom prst="rect">
            <a:avLst/>
          </a:prstGeom>
          <a:noFill/>
          <a:ln/>
        </p:spPr>
        <p:txBody>
          <a:bodyPr wrap="square" rtlCol="0" anchor="ctr"/>
          <a:lstStyle/>
          <a:p>
            <a:pPr indent="0" marL="0">
              <a:lnSpc>
                <a:spcPct val="120000"/>
              </a:lnSpc>
              <a:buNone/>
            </a:pPr>
            <a:r>
              <a:rPr lang="en-US" sz="1300" dirty="0">
                <a:solidFill>
                  <a:srgbClr val="4C5A45"/>
                </a:solidFill>
                <a:latin typeface="Calibri" pitchFamily="34" charset="0"/>
                <a:ea typeface="Calibri" pitchFamily="34" charset="-122"/>
                <a:cs typeface="Calibri" pitchFamily="34" charset="-120"/>
              </a:rPr>
              <a:t>Sensitive groups adjust outdoor activity around real-time AQI, reducing avoidable exposure.</a:t>
            </a:r>
            <a:endParaRPr lang="en-US" sz="1300" dirty="0"/>
          </a:p>
        </p:txBody>
      </p:sp>
      <p:sp>
        <p:nvSpPr>
          <p:cNvPr id="13" name="Shape 11"/>
          <p:cNvSpPr/>
          <p:nvPr/>
        </p:nvSpPr>
        <p:spPr>
          <a:xfrm>
            <a:off x="548640" y="4828032"/>
            <a:ext cx="10424160" cy="841248"/>
          </a:xfrm>
          <a:prstGeom prst="rect">
            <a:avLst/>
          </a:prstGeom>
          <a:solidFill>
            <a:srgbClr val="F1F2E8"/>
          </a:solidFill>
          <a:ln w="12700">
            <a:solidFill>
              <a:srgbClr val="D8DBC9"/>
            </a:solidFill>
            <a:prstDash val="solid"/>
          </a:ln>
        </p:spPr>
      </p:sp>
      <p:sp>
        <p:nvSpPr>
          <p:cNvPr id="14" name="Text 12"/>
          <p:cNvSpPr txBox="1"/>
          <p:nvPr/>
        </p:nvSpPr>
        <p:spPr>
          <a:xfrm>
            <a:off x="822960" y="4937760"/>
            <a:ext cx="2377440" cy="621792"/>
          </a:xfrm>
          <a:prstGeom prst="rect">
            <a:avLst/>
          </a:prstGeom>
          <a:noFill/>
          <a:ln/>
        </p:spPr>
        <p:txBody>
          <a:bodyPr wrap="square" rtlCol="0" anchor="ctr"/>
          <a:lstStyle/>
          <a:p>
            <a:pPr indent="0" marL="0">
              <a:buNone/>
            </a:pPr>
            <a:r>
              <a:rPr lang="en-US" sz="1500" b="1" dirty="0">
                <a:solidFill>
                  <a:srgbClr val="24402A"/>
                </a:solidFill>
                <a:latin typeface="Georgia" pitchFamily="34" charset="0"/>
                <a:ea typeface="Georgia" pitchFamily="34" charset="-122"/>
                <a:cs typeface="Georgia" pitchFamily="34" charset="-120"/>
              </a:rPr>
              <a:t>Scalability</a:t>
            </a:r>
            <a:endParaRPr lang="en-US" sz="1500" dirty="0"/>
          </a:p>
        </p:txBody>
      </p:sp>
      <p:sp>
        <p:nvSpPr>
          <p:cNvPr id="15" name="Text 13"/>
          <p:cNvSpPr txBox="1"/>
          <p:nvPr/>
        </p:nvSpPr>
        <p:spPr>
          <a:xfrm>
            <a:off x="3383280" y="4937760"/>
            <a:ext cx="7315200" cy="621792"/>
          </a:xfrm>
          <a:prstGeom prst="rect">
            <a:avLst/>
          </a:prstGeom>
          <a:noFill/>
          <a:ln/>
        </p:spPr>
        <p:txBody>
          <a:bodyPr wrap="square" rtlCol="0" anchor="ctr"/>
          <a:lstStyle/>
          <a:p>
            <a:pPr indent="0" marL="0">
              <a:lnSpc>
                <a:spcPct val="120000"/>
              </a:lnSpc>
              <a:buNone/>
            </a:pPr>
            <a:r>
              <a:rPr lang="en-US" sz="1300" dirty="0">
                <a:solidFill>
                  <a:srgbClr val="4C5A45"/>
                </a:solidFill>
                <a:latin typeface="Calibri" pitchFamily="34" charset="0"/>
                <a:ea typeface="Calibri" pitchFamily="34" charset="-122"/>
                <a:cs typeface="Calibri" pitchFamily="34" charset="-120"/>
              </a:rPr>
              <a:t>Swapping in a different city's documents localizes the assistant without rebuilding the pipeline.</a:t>
            </a:r>
            <a:endParaRPr lang="en-US" sz="1300" dirty="0"/>
          </a:p>
        </p:txBody>
      </p:sp>
      <p:sp>
        <p:nvSpPr>
          <p:cNvPr id="16" name="Shape 14"/>
          <p:cNvSpPr/>
          <p:nvPr/>
        </p:nvSpPr>
        <p:spPr>
          <a:xfrm>
            <a:off x="548640" y="5870448"/>
            <a:ext cx="10424160" cy="685800"/>
          </a:xfrm>
          <a:prstGeom prst="rect">
            <a:avLst/>
          </a:prstGeom>
          <a:solidFill>
            <a:srgbClr val="35563C"/>
          </a:solidFill>
          <a:ln w="12700">
            <a:solidFill>
              <a:srgbClr val="35563C"/>
            </a:solidFill>
            <a:prstDash val="solid"/>
          </a:ln>
        </p:spPr>
      </p:sp>
      <p:sp>
        <p:nvSpPr>
          <p:cNvPr id="17" name="Text 15"/>
          <p:cNvSpPr txBox="1"/>
          <p:nvPr/>
        </p:nvSpPr>
        <p:spPr>
          <a:xfrm>
            <a:off x="777240" y="5870448"/>
            <a:ext cx="9966960" cy="685800"/>
          </a:xfrm>
          <a:prstGeom prst="rect">
            <a:avLst/>
          </a:prstGeom>
          <a:noFill/>
          <a:ln/>
        </p:spPr>
        <p:txBody>
          <a:bodyPr wrap="square" rtlCol="0" anchor="ctr"/>
          <a:lstStyle/>
          <a:p>
            <a:pPr indent="0" marL="0">
              <a:lnSpc>
                <a:spcPct val="120000"/>
              </a:lnSpc>
              <a:buNone/>
            </a:pPr>
            <a:r>
              <a:rPr lang="en-US" sz="1150" i="1" dirty="0">
                <a:solidFill>
                  <a:srgbClr val="FFFFFF"/>
                </a:solidFill>
                <a:latin typeface="Calibri" pitchFamily="34" charset="0"/>
                <a:ea typeface="Calibri" pitchFamily="34" charset="-122"/>
                <a:cs typeface="Calibri" pitchFamily="34" charset="-120"/>
              </a:rPr>
              <a:t>Impact statement: if implemented, residents get correct, source-verified guidance in seconds instead of navigating dense municipal PDFs — the direct beneficiaries are residents (faster, more confident decisions) and municipal bodies (cleaner waste streams, fewer AQI-related health incidents).</a:t>
            </a:r>
            <a:endParaRPr lang="en-US" sz="1150" dirty="0"/>
          </a:p>
        </p:txBody>
      </p:sp>
      <p:sp>
        <p:nvSpPr>
          <p:cNvPr id="18" name="Text 16"/>
          <p:cNvSpPr txBox="1"/>
          <p:nvPr/>
        </p:nvSpPr>
        <p:spPr>
          <a:xfrm>
            <a:off x="11521440" y="6446520"/>
            <a:ext cx="548640" cy="274320"/>
          </a:xfrm>
          <a:prstGeom prst="rect">
            <a:avLst/>
          </a:prstGeom>
          <a:noFill/>
          <a:ln/>
        </p:spPr>
        <p:txBody>
          <a:bodyPr wrap="square" rtlCol="0" anchor="ctr"/>
          <a:lstStyle/>
          <a:p>
            <a:pPr algn="r" indent="0" marL="0">
              <a:buNone/>
            </a:pPr>
            <a:r>
              <a:rPr lang="en-US" sz="1000" dirty="0">
                <a:solidFill>
                  <a:srgbClr val="4C5A45"/>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74320"/>
          </a:xfrm>
          <a:prstGeom prst="rect">
            <a:avLst/>
          </a:prstGeom>
          <a:noFill/>
          <a:ln/>
        </p:spPr>
        <p:txBody>
          <a:bodyPr wrap="square" rtlCol="0" anchor="ctr"/>
          <a:lstStyle/>
          <a:p>
            <a:pPr indent="0" marL="0">
              <a:buNone/>
            </a:pPr>
            <a:r>
              <a:rPr lang="en-US" sz="1100" b="1" spc="100" kern="0" dirty="0">
                <a:solidFill>
                  <a:srgbClr val="4C5A45"/>
                </a:solidFill>
                <a:latin typeface="Calibri" pitchFamily="34" charset="0"/>
                <a:ea typeface="Calibri" pitchFamily="34" charset="-122"/>
                <a:cs typeface="Calibri" pitchFamily="34" charset="-120"/>
              </a:rPr>
              <a:t>PROTOTYPE — LIVE SCREENSHOT</a:t>
            </a:r>
            <a:endParaRPr lang="en-US" sz="1100" dirty="0"/>
          </a:p>
        </p:txBody>
      </p:sp>
      <p:sp>
        <p:nvSpPr>
          <p:cNvPr id="3" name="Text 1"/>
          <p:cNvSpPr txBox="1"/>
          <p:nvPr/>
        </p:nvSpPr>
        <p:spPr>
          <a:xfrm>
            <a:off x="548640" y="777240"/>
            <a:ext cx="8229600" cy="640080"/>
          </a:xfrm>
          <a:prstGeom prst="rect">
            <a:avLst/>
          </a:prstGeom>
          <a:noFill/>
          <a:ln/>
        </p:spPr>
        <p:txBody>
          <a:bodyPr wrap="square" rtlCol="0" anchor="ctr"/>
          <a:lstStyle/>
          <a:p>
            <a:pPr indent="0" marL="0">
              <a:buNone/>
            </a:pPr>
            <a:r>
              <a:rPr lang="en-US" sz="3000" dirty="0">
                <a:solidFill>
                  <a:srgbClr val="24402A"/>
                </a:solidFill>
                <a:latin typeface="Georgia" pitchFamily="34" charset="0"/>
                <a:ea typeface="Georgia" pitchFamily="34" charset="-122"/>
                <a:cs typeface="Georgia" pitchFamily="34" charset="-120"/>
              </a:rPr>
              <a:t>The working browser prototype</a:t>
            </a:r>
            <a:endParaRPr lang="en-US" sz="3000" dirty="0"/>
          </a:p>
        </p:txBody>
      </p:sp>
      <p:sp>
        <p:nvSpPr>
          <p:cNvPr id="4" name="Text 2"/>
          <p:cNvSpPr txBox="1"/>
          <p:nvPr/>
        </p:nvSpPr>
        <p:spPr>
          <a:xfrm>
            <a:off x="548640" y="1417320"/>
            <a:ext cx="10515600" cy="457200"/>
          </a:xfrm>
          <a:prstGeom prst="rect">
            <a:avLst/>
          </a:prstGeom>
          <a:noFill/>
          <a:ln/>
        </p:spPr>
        <p:txBody>
          <a:bodyPr wrap="square" rtlCol="0" anchor="ctr"/>
          <a:lstStyle/>
          <a:p>
            <a:pPr indent="0" marL="0">
              <a:lnSpc>
                <a:spcPct val="130000"/>
              </a:lnSpc>
              <a:buNone/>
            </a:pPr>
            <a:r>
              <a:rPr lang="en-US" sz="1300" dirty="0">
                <a:solidFill>
                  <a:srgbClr val="4C5A45"/>
                </a:solidFill>
                <a:latin typeface="Calibri" pitchFamily="34" charset="0"/>
                <a:ea typeface="Calibri" pitchFamily="34" charset="-122"/>
                <a:cs typeface="Calibri" pitchFamily="34" charset="-120"/>
              </a:rPr>
              <a:t>Actual screenshot of the deployed GreenGuide interface — knowledge base panel, suggested questions, input box, and live pipeline tracker.</a:t>
            </a:r>
            <a:endParaRPr lang="en-US" sz="1300" dirty="0"/>
          </a:p>
        </p:txBody>
      </p:sp>
      <p:sp>
        <p:nvSpPr>
          <p:cNvPr id="5" name="Shape 3"/>
          <p:cNvSpPr/>
          <p:nvPr/>
        </p:nvSpPr>
        <p:spPr>
          <a:xfrm>
            <a:off x="2894968" y="1911096"/>
            <a:ext cx="6399016" cy="4407408"/>
          </a:xfrm>
          <a:prstGeom prst="rect">
            <a:avLst/>
          </a:prstGeom>
          <a:solidFill>
            <a:srgbClr val="FFFFFF"/>
          </a:solidFill>
          <a:ln w="12700">
            <a:solidFill>
              <a:srgbClr val="D8DBC9"/>
            </a:solidFill>
            <a:prstDash val="solid"/>
          </a:ln>
        </p:spPr>
      </p:sp>
      <p:pic>
        <p:nvPicPr>
          <p:cNvPr id="6" name="Image 0" descr="/home/claude/prototype_screenshot.png">    </p:cNvPr>
          <p:cNvPicPr>
            <a:picLocks noChangeAspect="1"/>
          </p:cNvPicPr>
          <p:nvPr/>
        </p:nvPicPr>
        <p:blipFill>
          <a:blip r:embed="rId1"/>
          <a:stretch>
            <a:fillRect/>
          </a:stretch>
        </p:blipFill>
        <p:spPr>
          <a:xfrm>
            <a:off x="2949832" y="1965960"/>
            <a:ext cx="6289288" cy="4297680"/>
          </a:xfrm>
          <a:prstGeom prst="rect">
            <a:avLst/>
          </a:prstGeom>
        </p:spPr>
      </p:pic>
      <p:sp>
        <p:nvSpPr>
          <p:cNvPr id="7" name="Text 4"/>
          <p:cNvSpPr txBox="1"/>
          <p:nvPr/>
        </p:nvSpPr>
        <p:spPr>
          <a:xfrm>
            <a:off x="11521440" y="6446520"/>
            <a:ext cx="548640" cy="274320"/>
          </a:xfrm>
          <a:prstGeom prst="rect">
            <a:avLst/>
          </a:prstGeom>
          <a:noFill/>
          <a:ln/>
        </p:spPr>
        <p:txBody>
          <a:bodyPr wrap="square" rtlCol="0" anchor="ctr"/>
          <a:lstStyle/>
          <a:p>
            <a:pPr algn="r" indent="0" marL="0">
              <a:buNone/>
            </a:pPr>
            <a:r>
              <a:rPr lang="en-US" sz="1000" dirty="0">
                <a:solidFill>
                  <a:srgbClr val="4C5A45"/>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74320"/>
          </a:xfrm>
          <a:prstGeom prst="rect">
            <a:avLst/>
          </a:prstGeom>
          <a:noFill/>
          <a:ln/>
        </p:spPr>
        <p:txBody>
          <a:bodyPr wrap="square" rtlCol="0" anchor="ctr"/>
          <a:lstStyle/>
          <a:p>
            <a:pPr indent="0" marL="0">
              <a:buNone/>
            </a:pPr>
            <a:r>
              <a:rPr lang="en-US" sz="1100" b="1" spc="100" kern="0" dirty="0">
                <a:solidFill>
                  <a:srgbClr val="4C5A45"/>
                </a:solidFill>
                <a:latin typeface="Calibri" pitchFamily="34" charset="0"/>
                <a:ea typeface="Calibri" pitchFamily="34" charset="-122"/>
                <a:cs typeface="Calibri" pitchFamily="34" charset="-120"/>
              </a:rPr>
              <a:t>PROTOTYPE — SAMPLE INTERACTION</a:t>
            </a:r>
            <a:endParaRPr lang="en-US" sz="1100" dirty="0"/>
          </a:p>
        </p:txBody>
      </p:sp>
      <p:sp>
        <p:nvSpPr>
          <p:cNvPr id="3" name="Text 1"/>
          <p:cNvSpPr txBox="1"/>
          <p:nvPr/>
        </p:nvSpPr>
        <p:spPr>
          <a:xfrm>
            <a:off x="548640" y="777240"/>
            <a:ext cx="7315200" cy="640080"/>
          </a:xfrm>
          <a:prstGeom prst="rect">
            <a:avLst/>
          </a:prstGeom>
          <a:noFill/>
          <a:ln/>
        </p:spPr>
        <p:txBody>
          <a:bodyPr wrap="square" rtlCol="0" anchor="ctr"/>
          <a:lstStyle/>
          <a:p>
            <a:pPr indent="0" marL="0">
              <a:buNone/>
            </a:pPr>
            <a:r>
              <a:rPr lang="en-US" sz="3000" dirty="0">
                <a:solidFill>
                  <a:srgbClr val="24402A"/>
                </a:solidFill>
                <a:latin typeface="Georgia" pitchFamily="34" charset="0"/>
                <a:ea typeface="Georgia" pitchFamily="34" charset="-122"/>
                <a:cs typeface="Georgia" pitchFamily="34" charset="-120"/>
              </a:rPr>
              <a:t>Walkthrough: a grounded answer</a:t>
            </a:r>
            <a:endParaRPr lang="en-US" sz="3000" dirty="0"/>
          </a:p>
        </p:txBody>
      </p:sp>
      <p:sp>
        <p:nvSpPr>
          <p:cNvPr id="4" name="Text 2"/>
          <p:cNvSpPr txBox="1"/>
          <p:nvPr/>
        </p:nvSpPr>
        <p:spPr>
          <a:xfrm>
            <a:off x="548640" y="1417320"/>
            <a:ext cx="10515600" cy="457200"/>
          </a:xfrm>
          <a:prstGeom prst="rect">
            <a:avLst/>
          </a:prstGeom>
          <a:noFill/>
          <a:ln/>
        </p:spPr>
        <p:txBody>
          <a:bodyPr wrap="square" rtlCol="0" anchor="ctr"/>
          <a:lstStyle/>
          <a:p>
            <a:pPr indent="0" marL="0">
              <a:lnSpc>
                <a:spcPct val="130000"/>
              </a:lnSpc>
              <a:buNone/>
            </a:pPr>
            <a:r>
              <a:rPr lang="en-US" sz="1300" dirty="0">
                <a:solidFill>
                  <a:srgbClr val="4C5A45"/>
                </a:solidFill>
                <a:latin typeface="Calibri" pitchFamily="34" charset="0"/>
                <a:ea typeface="Calibri" pitchFamily="34" charset="-122"/>
                <a:cs typeface="Calibri" pitchFamily="34" charset="-120"/>
              </a:rPr>
              <a:t>Retrieval runs live in the browser against the knowledge base shown on the previous slide, then a grounded LLM call generates the reply below.</a:t>
            </a:r>
            <a:endParaRPr lang="en-US" sz="1300" dirty="0"/>
          </a:p>
        </p:txBody>
      </p:sp>
      <p:sp>
        <p:nvSpPr>
          <p:cNvPr id="5" name="Shape 3"/>
          <p:cNvSpPr/>
          <p:nvPr/>
        </p:nvSpPr>
        <p:spPr>
          <a:xfrm>
            <a:off x="1371600" y="2148840"/>
            <a:ext cx="9418320" cy="3566160"/>
          </a:xfrm>
          <a:prstGeom prst="rect">
            <a:avLst/>
          </a:prstGeom>
          <a:solidFill>
            <a:srgbClr val="FAFAF4"/>
          </a:solidFill>
          <a:ln w="12700">
            <a:solidFill>
              <a:srgbClr val="D8DBC9"/>
            </a:solidFill>
            <a:prstDash val="solid"/>
          </a:ln>
        </p:spPr>
      </p:sp>
      <p:sp>
        <p:nvSpPr>
          <p:cNvPr id="6" name="Shape 4"/>
          <p:cNvSpPr/>
          <p:nvPr/>
        </p:nvSpPr>
        <p:spPr>
          <a:xfrm>
            <a:off x="6492240" y="2423160"/>
            <a:ext cx="4023360" cy="502920"/>
          </a:xfrm>
          <a:prstGeom prst="roundRect">
            <a:avLst>
              <a:gd name="adj" fmla="val 18182"/>
            </a:avLst>
          </a:prstGeom>
          <a:solidFill>
            <a:srgbClr val="35563C"/>
          </a:solidFill>
          <a:ln/>
        </p:spPr>
      </p:sp>
      <p:sp>
        <p:nvSpPr>
          <p:cNvPr id="7" name="Text 5"/>
          <p:cNvSpPr txBox="1"/>
          <p:nvPr/>
        </p:nvSpPr>
        <p:spPr>
          <a:xfrm>
            <a:off x="6675120" y="2423160"/>
            <a:ext cx="3657600" cy="50292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Can I put a used pizza box in the recycling bin?</a:t>
            </a:r>
            <a:endParaRPr lang="en-US" sz="1150" dirty="0"/>
          </a:p>
        </p:txBody>
      </p:sp>
      <p:sp>
        <p:nvSpPr>
          <p:cNvPr id="8" name="Shape 6"/>
          <p:cNvSpPr/>
          <p:nvPr/>
        </p:nvSpPr>
        <p:spPr>
          <a:xfrm>
            <a:off x="1645920" y="3154680"/>
            <a:ext cx="6766560" cy="1371600"/>
          </a:xfrm>
          <a:prstGeom prst="roundRect">
            <a:avLst>
              <a:gd name="adj" fmla="val 6667"/>
            </a:avLst>
          </a:prstGeom>
          <a:solidFill>
            <a:srgbClr val="FFFFFF"/>
          </a:solidFill>
          <a:ln w="12700">
            <a:solidFill>
              <a:srgbClr val="D8DBC9"/>
            </a:solidFill>
            <a:prstDash val="solid"/>
          </a:ln>
        </p:spPr>
      </p:sp>
      <p:sp>
        <p:nvSpPr>
          <p:cNvPr id="9" name="Text 7"/>
          <p:cNvSpPr txBox="1"/>
          <p:nvPr/>
        </p:nvSpPr>
        <p:spPr>
          <a:xfrm>
            <a:off x="1874520" y="3291840"/>
            <a:ext cx="6309360" cy="1097280"/>
          </a:xfrm>
          <a:prstGeom prst="rect">
            <a:avLst/>
          </a:prstGeom>
          <a:noFill/>
          <a:ln/>
        </p:spPr>
        <p:txBody>
          <a:bodyPr wrap="square" rtlCol="0" anchor="t"/>
          <a:lstStyle/>
          <a:p>
            <a:pPr indent="0" marL="0">
              <a:lnSpc>
                <a:spcPct val="130000"/>
              </a:lnSpc>
              <a:buNone/>
            </a:pPr>
            <a:r>
              <a:rPr lang="en-US" sz="1150" dirty="0">
                <a:solidFill>
                  <a:srgbClr val="1E2A1B"/>
                </a:solidFill>
                <a:latin typeface="Calibri" pitchFamily="34" charset="0"/>
                <a:ea typeface="Calibri" pitchFamily="34" charset="-122"/>
                <a:cs typeface="Calibri" pitchFamily="34" charset="-120"/>
              </a:rPr>
              <a:t>No — a food-soiled pizza box shouldn't go in dry recyclables because grease contaminates the recycling stream. It should go into wet/organic waste instead (Source 1).</a:t>
            </a:r>
            <a:endParaRPr lang="en-US" sz="1150" dirty="0"/>
          </a:p>
        </p:txBody>
      </p:sp>
      <p:sp>
        <p:nvSpPr>
          <p:cNvPr id="10" name="Text 8"/>
          <p:cNvSpPr txBox="1"/>
          <p:nvPr/>
        </p:nvSpPr>
        <p:spPr>
          <a:xfrm>
            <a:off x="1874520" y="4297680"/>
            <a:ext cx="6309360" cy="274320"/>
          </a:xfrm>
          <a:prstGeom prst="rect">
            <a:avLst/>
          </a:prstGeom>
          <a:noFill/>
          <a:ln/>
        </p:spPr>
        <p:txBody>
          <a:bodyPr wrap="square" rtlCol="0" anchor="ctr"/>
          <a:lstStyle/>
          <a:p>
            <a:pPr indent="0" marL="0">
              <a:buNone/>
            </a:pPr>
            <a:r>
              <a:rPr lang="en-US" sz="950" i="1" dirty="0">
                <a:solidFill>
                  <a:srgbClr val="35563C"/>
                </a:solidFill>
                <a:latin typeface="Calibri" pitchFamily="34" charset="0"/>
                <a:ea typeface="Calibri" pitchFamily="34" charset="-122"/>
                <a:cs typeface="Calibri" pitchFamily="34" charset="-120"/>
              </a:rPr>
              <a:t>Municipal Solid Waste Segregation Guide</a:t>
            </a:r>
            <a:endParaRPr lang="en-US" sz="950" dirty="0"/>
          </a:p>
        </p:txBody>
      </p:sp>
      <p:sp>
        <p:nvSpPr>
          <p:cNvPr id="11" name="Text 9"/>
          <p:cNvSpPr txBox="1"/>
          <p:nvPr/>
        </p:nvSpPr>
        <p:spPr>
          <a:xfrm>
            <a:off x="1645920" y="4983480"/>
            <a:ext cx="8869680" cy="548640"/>
          </a:xfrm>
          <a:prstGeom prst="rect">
            <a:avLst/>
          </a:prstGeom>
          <a:noFill/>
          <a:ln/>
        </p:spPr>
        <p:txBody>
          <a:bodyPr wrap="square" rtlCol="0" anchor="ctr"/>
          <a:lstStyle/>
          <a:p>
            <a:pPr indent="0" marL="0">
              <a:buNone/>
            </a:pPr>
            <a:r>
              <a:rPr lang="en-US" sz="1050" i="1" dirty="0">
                <a:solidFill>
                  <a:srgbClr val="4C5A45"/>
                </a:solidFill>
                <a:latin typeface="Calibri" pitchFamily="34" charset="0"/>
                <a:ea typeface="Calibri" pitchFamily="34" charset="-122"/>
                <a:cs typeface="Calibri" pitchFamily="34" charset="-120"/>
              </a:rPr>
              <a:t>Pipeline trace: query embedded → 3 chunks retrieved from "Municipal Solid Waste Segregation Guide" → grounded generation → source cited</a:t>
            </a:r>
            <a:endParaRPr lang="en-US" sz="1050" dirty="0"/>
          </a:p>
        </p:txBody>
      </p:sp>
      <p:sp>
        <p:nvSpPr>
          <p:cNvPr id="12" name="Text 10"/>
          <p:cNvSpPr txBox="1"/>
          <p:nvPr/>
        </p:nvSpPr>
        <p:spPr>
          <a:xfrm>
            <a:off x="11521440" y="6446520"/>
            <a:ext cx="548640" cy="274320"/>
          </a:xfrm>
          <a:prstGeom prst="rect">
            <a:avLst/>
          </a:prstGeom>
          <a:noFill/>
          <a:ln/>
        </p:spPr>
        <p:txBody>
          <a:bodyPr wrap="square" rtlCol="0" anchor="ctr"/>
          <a:lstStyle/>
          <a:p>
            <a:pPr algn="r" indent="0" marL="0">
              <a:buNone/>
            </a:pPr>
            <a:r>
              <a:rPr lang="en-US" sz="1000" dirty="0">
                <a:solidFill>
                  <a:srgbClr val="4C5A45"/>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4402A"/>
        </a:solidFill>
      </p:bgPr>
    </p:bg>
    <p:spTree>
      <p:nvGrpSpPr>
        <p:cNvPr id="1" name=""/>
        <p:cNvGrpSpPr/>
        <p:nvPr/>
      </p:nvGrpSpPr>
      <p:grpSpPr>
        <a:xfrm>
          <a:off x="0" y="0"/>
          <a:ext cx="0" cy="0"/>
          <a:chOff x="0" y="0"/>
          <a:chExt cx="0" cy="0"/>
        </a:xfrm>
      </p:grpSpPr>
      <p:sp>
        <p:nvSpPr>
          <p:cNvPr id="2" name="Text 0"/>
          <p:cNvSpPr txBox="1"/>
          <p:nvPr/>
        </p:nvSpPr>
        <p:spPr>
          <a:xfrm>
            <a:off x="822960" y="2468880"/>
            <a:ext cx="7315200" cy="1097280"/>
          </a:xfrm>
          <a:prstGeom prst="rect">
            <a:avLst/>
          </a:prstGeom>
          <a:noFill/>
          <a:ln/>
        </p:spPr>
        <p:txBody>
          <a:bodyPr wrap="square" rtlCol="0" anchor="ctr"/>
          <a:lstStyle/>
          <a:p>
            <a:pPr indent="0" marL="0">
              <a:buNone/>
            </a:pPr>
            <a:r>
              <a:rPr lang="en-US" sz="4400" dirty="0">
                <a:solidFill>
                  <a:srgbClr val="FFFFFF"/>
                </a:solidFill>
                <a:latin typeface="Georgia" pitchFamily="34" charset="0"/>
                <a:ea typeface="Georgia" pitchFamily="34" charset="-122"/>
                <a:cs typeface="Georgia" pitchFamily="34" charset="-120"/>
              </a:rPr>
              <a:t>Thank you</a:t>
            </a:r>
            <a:endParaRPr lang="en-US" sz="4400" dirty="0"/>
          </a:p>
        </p:txBody>
      </p:sp>
      <p:sp>
        <p:nvSpPr>
          <p:cNvPr id="3" name="Text 1"/>
          <p:cNvSpPr txBox="1"/>
          <p:nvPr/>
        </p:nvSpPr>
        <p:spPr>
          <a:xfrm>
            <a:off x="822960" y="3520440"/>
            <a:ext cx="8229600" cy="731520"/>
          </a:xfrm>
          <a:prstGeom prst="rect">
            <a:avLst/>
          </a:prstGeom>
          <a:noFill/>
          <a:ln/>
        </p:spPr>
        <p:txBody>
          <a:bodyPr wrap="square" rtlCol="0" anchor="ctr"/>
          <a:lstStyle/>
          <a:p>
            <a:pPr indent="0" marL="0">
              <a:lnSpc>
                <a:spcPct val="140000"/>
              </a:lnSpc>
              <a:buNone/>
            </a:pPr>
            <a:r>
              <a:rPr lang="en-US" sz="1400" dirty="0">
                <a:solidFill>
                  <a:srgbClr val="A9C2AE"/>
                </a:solidFill>
                <a:latin typeface="Calibri" pitchFamily="34" charset="0"/>
                <a:ea typeface="Calibri" pitchFamily="34" charset="-122"/>
                <a:cs typeface="Calibri" pitchFamily="34" charset="-120"/>
              </a:rPr>
              <a:t>GreenGuide  ·  AI for Sustainability Virtual Internship</a:t>
            </a:r>
            <a:endParaRPr lang="en-US" sz="1400" dirty="0"/>
          </a:p>
          <a:p>
            <a:pPr indent="0" marL="0">
              <a:lnSpc>
                <a:spcPct val="140000"/>
              </a:lnSpc>
              <a:buNone/>
            </a:pPr>
            <a:r>
              <a:rPr lang="en-US" sz="1400" dirty="0">
                <a:solidFill>
                  <a:srgbClr val="A9C2AE"/>
                </a:solidFill>
                <a:latin typeface="Calibri" pitchFamily="34" charset="0"/>
                <a:ea typeface="Calibri" pitchFamily="34" charset="-122"/>
                <a:cs typeface="Calibri" pitchFamily="34" charset="-120"/>
              </a:rPr>
              <a:t>1M1B  ·  IBM SkillsBuild  ·  AICTE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2026-09-08T20:01:29Z</dcterms:created>
  <dcterms:modified xsi:type="dcterms:W3CDTF">2026-09-08T20:01:29Z</dcterms:modified>
</cp:coreProperties>
</file>